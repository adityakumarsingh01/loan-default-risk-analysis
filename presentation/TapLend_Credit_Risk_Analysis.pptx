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(SLIDE 1):</a:t>
            </a:r>
          </a:p>
          <a:p>
            <a:r>
              <a:t>Good morning/afternoon everyone. Today I'm presenting my credit risk analysis for TapLend India. </a:t>
            </a:r>
          </a:p>
          <a:p>
            <a:r>
              <a:t>Our objective is to evaluate whether applicant characteristics captured at application time can reliably predict loan repayment outcomes—distinguishing Good loans from Bad loans.</a:t>
            </a:r>
          </a:p>
          <a:p>
            <a:r>
              <a:t>Throughout this project, I audited the data architecture, verified identifier corrections, enforced fair-lending feature hygiene, built a leak-free machine learning workflow, and evaluated the economic trade-offs required before considering any automated underwriting. Let's begin.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(SLIDE 2):</a:t>
            </a:r>
          </a:p>
          <a:p>
            <a:r>
              <a:t>In digital consumer lending, underwriting is inherently an asymmetric economic problem. </a:t>
            </a:r>
          </a:p>
          <a:p>
            <a:r>
              <a:t>If we approve a borrower who defaults, we lose unrecovered principal—illustrated here as roughly $500 based on average loan sizes. If we reject a creditworthy borrower, we lose the interest margin, illustrated as roughly $150.</a:t>
            </a:r>
          </a:p>
          <a:p>
            <a:r>
              <a:t>I want to emphasize upfront that these dollar amounts are illustrative business assumptions, not numbers found in the raw assignment brief.</a:t>
            </a:r>
          </a:p>
          <a:p>
            <a:r>
              <a:t>Because defaults are over three times as costly as missed loan opportunities, our threshold strategy cannot treat errors symmetrically. However, we must evaluate thresholds rigorously on holdout data to avoid overfitting.</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(SLIDE 3):</a:t>
            </a:r>
          </a:p>
          <a:p>
            <a:r>
              <a:t>Here is an overview of the two tables provided in the assignment workbook:</a:t>
            </a:r>
          </a:p>
          <a:p>
            <a:r>
              <a:t>Application Data has 647 rows and 31 columns. Every applicant in this dataset has status 'Approved'. It captures customer traits, requested loan terms, and five specialized credit bureau scores.</a:t>
            </a:r>
          </a:p>
          <a:p>
            <a:r>
              <a:t>Loan Performance has 1,285 rows and two columns: idLoan and flgGood. 60% of loans are Good and 40% are Bad.</a:t>
            </a:r>
          </a:p>
          <a:p>
            <a:r>
              <a:t>Immediately, an apparent discrepancy appears: there are 1,285 disbursed loans, but only 647 application records. Auditing this relationship was our first task.</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(SLIDE 4):</a:t>
            </a:r>
          </a:p>
          <a:p>
            <a:r>
              <a:t>Let's address the data matching problem directly with verified facts:</a:t>
            </a:r>
          </a:p>
          <a:p>
            <a:r>
              <a:t>1. In the baseline raw join, 656 loans matched. When we audited Row 567, we found an integer value 902431691. Excel stripped the leading zero; restoring it matches loan 0902431691-01, bringing total matched loans to 657 across 641 unique applicants.</a:t>
            </a:r>
          </a:p>
          <a:p>
            <a:r>
              <a:t>2. 16 customers took repeat loans. All 16 had paid off their first loan successfully.</a:t>
            </a:r>
          </a:p>
          <a:p>
            <a:r>
              <a:t>3. The remaining 628 loans in Loan Performance belong to customer prefixes that do not appear anywhere in Application Data. This is not inferred from row position—Application Data simply covers only 647 of the 1,269 total borrowers in that 6-month period.</a:t>
            </a:r>
          </a:p>
          <a:p>
            <a:r>
              <a:t>4. Crucially, as shown on the chart, the matched cohort had a 54% default rate, while the unmatched cohort had only a 26% default rate.</a:t>
            </a:r>
          </a:p>
          <a:p>
            <a:r>
              <a:t>Per strict data governance, we did not fabricate join keys. We preserved all 628 unmatched loans in unmatched_loans.csv, trained our models strictly on verified matched records, and documented this data pipeline gap.</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(SLIDE 5):</a:t>
            </a:r>
          </a:p>
          <a:p>
            <a:r>
              <a:t>Looking at our exploratory data analysis:</a:t>
            </a:r>
          </a:p>
          <a:p>
            <a:r>
              <a:t>First, all four specialized FICO scores—Retail, Telecom, Bank Card, and Money—demonstrate statistically significant separation between Good and Bad loans (p &lt; 0.001). Good borrowers averaged 15 to 20 points higher on bureau scores.</a:t>
            </a:r>
          </a:p>
          <a:p>
            <a:r>
              <a:t>Second, a major surprise: applicant monthly income has no statistically significant correlation with loan default (p = 0.729). Higher self-reported gross income did not prevent defaults. This confirms that gross income without verified active debt obligations provides little risk signal.</a:t>
            </a:r>
          </a:p>
          <a:p>
            <a:r>
              <a:t>Third, while applicant age showed an observational correlation with default, we deliberately removed age from predictive features due to fair lending compliance.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(SLIDE 6):</a:t>
            </a:r>
          </a:p>
          <a:p>
            <a:r>
              <a:t>Examining repayment frequency reveals critical operational insights and methodological caveats:</a:t>
            </a:r>
          </a:p>
          <a:p>
            <a:r>
              <a:t>As shown on the chart, applicants on weekly repayment schedules experienced an 81.5% default rate. However, we must be careful: this is an observational association in a small subgroup of only 27 loans, not established causation. Weekly terms do not necessarily cause default; rather, borrowers requiring weekly installments likely face severe cash-flow volatility.</a:t>
            </a:r>
          </a:p>
          <a:p>
            <a:r>
              <a:t>Similarly, repeat borrowers defaulted at only 18.75% on loan -02 compared to 55% for first-time loans. But this reflects survivorship bias in a tiny sample of 16 borrowers who were selected precisely because they repaid their first loan.</a:t>
            </a:r>
          </a:p>
          <a:p>
            <a:r>
              <a:t>Both findings warrant controlled operational review rather than definitive, unverified policy mandates.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(SLIDE 7):</a:t>
            </a:r>
          </a:p>
          <a:p>
            <a:r>
              <a:t>Before building our models, strict feature engineering and fair lending hygiene were enforced.</a:t>
            </a:r>
          </a:p>
          <a:p>
            <a:r>
              <a:t>First, applicant age was deliberately excluded from all predictive models to comply with ECOA fair lending regulations. </a:t>
            </a:r>
          </a:p>
          <a:p>
            <a:r>
              <a:t>Importantly, we do NOT claim that removing age alone guarantees fairness. Other features—such as banking tenure, residential stability, or credit history depth—can act as proxy variables for age or socioeconomic status. Any real-world deployment requires formal Disparate Impact auditing.</a:t>
            </a:r>
          </a:p>
          <a:p>
            <a:r>
              <a:t>Second, all post-decision underwriting fields—amount approved, duration approved, and payment approved—were stripped to prevent target leakage.</a:t>
            </a:r>
          </a:p>
          <a:p>
            <a:r>
              <a:t>We then engineered clean financial ratios: payment-to-income, rent-to-income, total repayment cost ratio, and composite FICO.</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(SLIDE 8):</a:t>
            </a:r>
          </a:p>
          <a:p>
            <a:r>
              <a:t>To ensure complete technical rigor, we solved a critical validation problem: repeat borrower data leakage.</a:t>
            </a:r>
          </a:p>
          <a:p>
            <a:r>
              <a:t>Because 16 customers took both a first and second loan, standard random splitting would place one loan from a customer in training and their second loan in testing. To eliminate this leak, we implemented GroupShuffleSplit on customer_key, ensuring that all loans for any given borrower were kept strictly on one side of the split.</a:t>
            </a:r>
          </a:p>
          <a:p>
            <a:r>
              <a:t>Furthermore, all imputation and scaling parameters were learned exclusively from training folds through Scikit-Learn Pipelines.</a:t>
            </a:r>
          </a:p>
          <a:p>
            <a:r>
              <a:t>We evaluated two complementary models: Logistic Regression for linear interpretability, and Random Forest to capture non-linear risk interactions.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(SLIDE 9):</a:t>
            </a:r>
          </a:p>
          <a:p>
            <a:r>
              <a:t>Here are our actual out-of-sample evaluation results on the holdout test set of 133 loans, trained without age.</a:t>
            </a:r>
          </a:p>
          <a:p>
            <a:r>
              <a:t>Remember, our positive class is defined as a 'Bad Loan'—because detecting credit defaults is our core underwriting objective.</a:t>
            </a:r>
          </a:p>
          <a:p>
            <a:r>
              <a:t>The Random Forest classifier demonstrated superior performance, achieving an ROC-AUC of 0.631 and a 73.2% recall on Bad loans. In practical terms, it successfully identified 52 out of the 71 defaulting borrowers in the holdout set.</a:t>
            </a:r>
          </a:p>
          <a:p>
            <a:r>
              <a:t>Logistic Regression achieved 53.4% accuracy and 0.546 AUC.</a:t>
            </a:r>
          </a:p>
          <a:p>
            <a:r>
              <a:t>Both models demonstrate meaningful signal, but overall discrimination remains moderate, primarily constrained by the sample size and the lack of verified debt obligation data.</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(SLIDE 10):</a:t>
            </a:r>
          </a:p>
          <a:p>
            <a:r>
              <a:t>A key methodological correction in this revised analysis is eliminating test-set tuning. </a:t>
            </a:r>
          </a:p>
          <a:p>
            <a:r>
              <a:t>We selected our optimal threshold strictly on training cross-validation data, finding T* = 0.30, and then evaluated it on the untouched holdout test set.</a:t>
            </a:r>
          </a:p>
          <a:p>
            <a:r>
              <a:t>Under our illustrative cost assumptions ($500 default loss vs. $150 lost margin), setting T* = 0.30 reduces test loss from $14,150 to $9,650.</a:t>
            </a:r>
          </a:p>
          <a:p>
            <a:r>
              <a:t>However, look at the trade-off: false negatives drop to 2, but false positives jump to 59 out of 62 good borrowers! That means 95% of good applicants are rejected, and loan origination volume collapses.</a:t>
            </a:r>
          </a:p>
          <a:p>
            <a:r>
              <a:t>In a real lending business, underwriting teams cannot operate without loan volume constraints. Furthermore, with only 133 test cases, threshold optimization is highly sensitive to sample noise.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(SLIDE 11):</a:t>
            </a:r>
          </a:p>
          <a:p>
            <a:r>
              <a:t>Every honest data science assessment must articulate its limitations clearly:</a:t>
            </a:r>
          </a:p>
          <a:p>
            <a:r>
              <a:t>First, selection bias: our application dataset contains only approved applicants. We have no data on rejected borrowers.</a:t>
            </a:r>
          </a:p>
          <a:p>
            <a:r>
              <a:t>Second, missing portfolio data: 628 loans in Loan Performance have no application records. Because their default rate is 26% versus 54% for matched loans, this missingness is clearly non-random.</a:t>
            </a:r>
          </a:p>
          <a:p>
            <a:r>
              <a:t>Third, proxy risk and omitted variables: while age was removed, correlated features like banking tenure or credit history depth can proxy for protected demographics. Moreover, we lack active debt obligation (DTI) data.</a:t>
            </a:r>
          </a:p>
          <a:p>
            <a:r>
              <a:t>Because of these structural limitations, we strongly advise against deploying this model into automated production.</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(SLIDE 12):</a:t>
            </a:r>
          </a:p>
          <a:p>
            <a:r>
              <a:t>To conclude, I recommend three strategic pillars for TapLend:</a:t>
            </a:r>
          </a:p>
          <a:p>
            <a:r>
              <a:t>First, evidence-based underwriting inquiries: conduct controlled reviews of weekly repayment terms, evaluate bureau score floors against portfolio volume trade-offs, and validate repeat borrower loyalty programs across broader cohorts.</a:t>
            </a:r>
          </a:p>
          <a:p>
            <a:r>
              <a:t>Second, fix data infrastructure: eliminate manual spreadsheet exports, recover the missing 628 application records, and begin logging all applicant rejections for future training.</a:t>
            </a:r>
          </a:p>
          <a:p>
            <a:r>
              <a:t>Third, enrich applicant data: integrate verified debt-to-income and real-time bank transaction analytics through the Account Aggregator network, while conducting formal fair lending audits.</a:t>
            </a:r>
          </a:p>
          <a:p>
            <a:r>
              <a:t>We explicitly advise against deploying this model into automated production at this stage.</a:t>
            </a:r>
          </a:p>
          <a:p>
            <a:r>
              <a:t>Thank you for your time. I am now very happy to answer any questions.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A2B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1645920"/>
            <a:ext cx="9601200" cy="2926080"/>
          </a:xfrm>
          <a:prstGeom prst="rect">
            <a:avLst/>
          </a:prstGeom>
          <a:noFill/>
        </p:spPr>
        <p:txBody>
          <a:bodyPr wrap="square">
            <a:spAutoFit/>
          </a:bodyPr>
          <a:lstStyle/>
          <a:p>
            <a:pPr>
              <a:spcAft>
                <a:spcPts val="1400"/>
              </a:spcAft>
              <a:defRPr sz="1300" b="1">
                <a:solidFill>
                  <a:srgbClr val="A0BEE6"/>
                </a:solidFill>
              </a:defRPr>
            </a:pPr>
            <a:r>
              <a:t>TAPLEND INDIA — DATA SCIENCE INTERN ASSESSMENT</a:t>
            </a:r>
          </a:p>
          <a:p>
            <a:pPr>
              <a:spcAft>
                <a:spcPts val="1600"/>
              </a:spcAft>
              <a:defRPr sz="3200" b="1">
                <a:solidFill>
                  <a:srgbClr val="FFFFFF"/>
                </a:solidFill>
              </a:defRPr>
            </a:pPr>
            <a:r>
              <a:t>Credit Risk Analysis &amp; Underwriting Optimization</a:t>
            </a:r>
          </a:p>
          <a:p>
            <a:pPr>
              <a:defRPr sz="1400">
                <a:solidFill>
                  <a:srgbClr val="DCE6F5"/>
                </a:solidFill>
              </a:defRPr>
            </a:pPr>
            <a:r>
              <a:t>A rigorous, leak-free evaluation of applicant risk signals, verified data matching corrections, fair lending feature hygiene, and illustrative decision economics.</a:t>
            </a:r>
          </a:p>
        </p:txBody>
      </p:sp>
      <p:sp>
        <p:nvSpPr>
          <p:cNvPr id="4" name="TextBox 3"/>
          <p:cNvSpPr txBox="1"/>
          <p:nvPr/>
        </p:nvSpPr>
        <p:spPr>
          <a:xfrm>
            <a:off x="1097280" y="5120640"/>
            <a:ext cx="9601200" cy="914400"/>
          </a:xfrm>
          <a:prstGeom prst="rect">
            <a:avLst/>
          </a:prstGeom>
          <a:noFill/>
        </p:spPr>
        <p:txBody>
          <a:bodyPr wrap="none">
            <a:spAutoFit/>
          </a:bodyPr>
          <a:lstStyle/>
          <a:p>
            <a:pPr>
              <a:defRPr sz="1100">
                <a:solidFill>
                  <a:srgbClr val="B4C8DC"/>
                </a:solidFill>
              </a:defRPr>
            </a:pPr>
            <a:r>
              <a:t>Author: Data Science Candidate  |  Context: 15–20 Minute Executive Presentation  |  Dataset: Oct 2010 – Apr 2011 Portfolio</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515600" cy="320040"/>
          </a:xfrm>
          <a:prstGeom prst="rect">
            <a:avLst/>
          </a:prstGeom>
          <a:noFill/>
        </p:spPr>
        <p:txBody>
          <a:bodyPr wrap="square">
            <a:spAutoFit/>
          </a:bodyPr>
          <a:lstStyle/>
          <a:p>
            <a:pPr>
              <a:defRPr sz="1000" b="1">
                <a:solidFill>
                  <a:srgbClr val="788291"/>
                </a:solidFill>
              </a:defRPr>
            </a:pPr>
            <a:r>
              <a:t>TAPLEND INDIA • CREDIT RISK ASSESSMENT</a:t>
            </a:r>
          </a:p>
        </p:txBody>
      </p:sp>
      <p:sp>
        <p:nvSpPr>
          <p:cNvPr id="3" name="TextBox 2"/>
          <p:cNvSpPr txBox="1"/>
          <p:nvPr/>
        </p:nvSpPr>
        <p:spPr>
          <a:xfrm>
            <a:off x="731520" y="640080"/>
            <a:ext cx="10515600" cy="731520"/>
          </a:xfrm>
          <a:prstGeom prst="rect">
            <a:avLst/>
          </a:prstGeom>
          <a:noFill/>
        </p:spPr>
        <p:txBody>
          <a:bodyPr wrap="square">
            <a:spAutoFit/>
          </a:bodyPr>
          <a:lstStyle/>
          <a:p>
            <a:pPr>
              <a:defRPr sz="2200" b="1">
                <a:solidFill>
                  <a:srgbClr val="1A2B4C"/>
                </a:solidFill>
              </a:defRPr>
            </a:pPr>
            <a:r>
              <a:t>Business Objective &amp; Underwriting Economics</a:t>
            </a:r>
          </a:p>
        </p:txBody>
      </p:sp>
      <p:sp>
        <p:nvSpPr>
          <p:cNvPr id="4" name="Rounded Rectangle 3"/>
          <p:cNvSpPr/>
          <p:nvPr/>
        </p:nvSpPr>
        <p:spPr>
          <a:xfrm>
            <a:off x="731520" y="1645920"/>
            <a:ext cx="3291840" cy="4572000"/>
          </a:xfrm>
          <a:prstGeom prst="roundRect">
            <a:avLst/>
          </a:prstGeom>
          <a:solidFill>
            <a:srgbClr val="F5F7FA"/>
          </a:solidFill>
          <a:ln w="12700">
            <a:solidFill>
              <a:srgbClr val="DCE0E6"/>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82880" bIns="182880"/>
          <a:lstStyle/>
          <a:p>
            <a:pPr algn="ctr">
              <a:spcAft>
                <a:spcPts val="800"/>
              </a:spcAft>
              <a:defRPr sz="1400" b="1">
                <a:solidFill>
                  <a:srgbClr val="1A2B4C"/>
                </a:solidFill>
              </a:defRPr>
            </a:pPr>
            <a:r>
              <a:t>The Lending Challenge</a:t>
            </a:r>
          </a:p>
          <a:p>
            <a:pPr>
              <a:spcAft>
                <a:spcPts val="400"/>
              </a:spcAft>
              <a:defRPr sz="1100">
                <a:solidFill>
                  <a:srgbClr val="212529"/>
                </a:solidFill>
              </a:defRPr>
            </a:pPr>
            <a:r>
              <a:t>• TapLend provides consumer credit to subprime and near-prime borrowers.</a:t>
            </a:r>
          </a:p>
          <a:p>
            <a:pPr>
              <a:spcAft>
                <a:spcPts val="400"/>
              </a:spcAft>
              <a:defRPr sz="1100">
                <a:solidFill>
                  <a:srgbClr val="212529"/>
                </a:solidFill>
              </a:defRPr>
            </a:pPr>
            <a:r>
              <a:t>• Core dilemma: Balancing loan origination volume against portfolio default losses.</a:t>
            </a:r>
          </a:p>
          <a:p>
            <a:pPr>
              <a:spcAft>
                <a:spcPts val="400"/>
              </a:spcAft>
              <a:defRPr sz="1100">
                <a:solidFill>
                  <a:srgbClr val="212529"/>
                </a:solidFill>
              </a:defRPr>
            </a:pPr>
            <a:r>
              <a:t>• Objective: Identify which applicant characteristics predict repayment to guide future credit decisions.</a:t>
            </a:r>
          </a:p>
          <a:p>
            <a:pPr>
              <a:spcAft>
                <a:spcPts val="400"/>
              </a:spcAft>
              <a:defRPr sz="1100">
                <a:solidFill>
                  <a:srgbClr val="212529"/>
                </a:solidFill>
              </a:defRPr>
            </a:pPr>
            <a:r>
              <a:t>• Regulatory boundary: Decisions must be transparent, non-discriminatory, and legally compliant.</a:t>
            </a:r>
          </a:p>
        </p:txBody>
      </p:sp>
      <p:sp>
        <p:nvSpPr>
          <p:cNvPr id="5" name="Rounded Rectangle 4"/>
          <p:cNvSpPr/>
          <p:nvPr/>
        </p:nvSpPr>
        <p:spPr>
          <a:xfrm>
            <a:off x="4389120" y="1645920"/>
            <a:ext cx="3291840" cy="4572000"/>
          </a:xfrm>
          <a:prstGeom prst="roundRect">
            <a:avLst/>
          </a:prstGeom>
          <a:solidFill>
            <a:srgbClr val="F5F7FA"/>
          </a:solidFill>
          <a:ln w="12700">
            <a:solidFill>
              <a:srgbClr val="DCE0E6"/>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82880" bIns="182880"/>
          <a:lstStyle/>
          <a:p>
            <a:pPr algn="ctr">
              <a:spcAft>
                <a:spcPts val="800"/>
              </a:spcAft>
              <a:defRPr sz="1400" b="1">
                <a:solidFill>
                  <a:srgbClr val="1A2B4C"/>
                </a:solidFill>
              </a:defRPr>
            </a:pPr>
            <a:r>
              <a:t>Illustrative Economic Costs</a:t>
            </a:r>
          </a:p>
          <a:p>
            <a:pPr>
              <a:spcAft>
                <a:spcPts val="400"/>
              </a:spcAft>
              <a:defRPr sz="1100">
                <a:solidFill>
                  <a:srgbClr val="212529"/>
                </a:solidFill>
              </a:defRPr>
            </a:pPr>
            <a:r>
              <a:t>• Asymmetric Cost Framework:</a:t>
            </a:r>
          </a:p>
          <a:p>
            <a:pPr>
              <a:spcAft>
                <a:spcPts val="400"/>
              </a:spcAft>
              <a:defRPr sz="1100">
                <a:solidFill>
                  <a:srgbClr val="212529"/>
                </a:solidFill>
              </a:defRPr>
            </a:pPr>
            <a:r>
              <a:t>•   • Cost of False Negative (Default loss): Lost principal (~$500 illustrative loss).</a:t>
            </a:r>
          </a:p>
          <a:p>
            <a:pPr>
              <a:spcAft>
                <a:spcPts val="400"/>
              </a:spcAft>
              <a:defRPr sz="1100">
                <a:solidFill>
                  <a:srgbClr val="212529"/>
                </a:solidFill>
              </a:defRPr>
            </a:pPr>
            <a:r>
              <a:t>•   • Cost of False Positive (Good rejection): Lost profit margin (~$150 illustrative profit).</a:t>
            </a:r>
          </a:p>
          <a:p>
            <a:pPr>
              <a:spcAft>
                <a:spcPts val="400"/>
              </a:spcAft>
              <a:defRPr sz="1100">
                <a:solidFill>
                  <a:srgbClr val="212529"/>
                </a:solidFill>
              </a:defRPr>
            </a:pPr>
            <a:r>
              <a:t>• Illustrative Nature:</a:t>
            </a:r>
          </a:p>
          <a:p>
            <a:pPr>
              <a:spcAft>
                <a:spcPts val="400"/>
              </a:spcAft>
              <a:defRPr sz="1100">
                <a:solidFill>
                  <a:srgbClr val="212529"/>
                </a:solidFill>
              </a:defRPr>
            </a:pPr>
            <a:r>
              <a:t>•   • Neither $500 nor $150 is specified in the raw workbook; they represent illustrative operational assumptions.</a:t>
            </a:r>
          </a:p>
          <a:p>
            <a:pPr>
              <a:spcAft>
                <a:spcPts val="400"/>
              </a:spcAft>
              <a:defRPr sz="1100">
                <a:solidFill>
                  <a:srgbClr val="212529"/>
                </a:solidFill>
              </a:defRPr>
            </a:pPr>
            <a:r>
              <a:t>•   • Because default costs exceed margin by &gt;3:1, naive 0.50 cutoffs are economically misaligned.</a:t>
            </a:r>
          </a:p>
        </p:txBody>
      </p:sp>
      <p:sp>
        <p:nvSpPr>
          <p:cNvPr id="6" name="Rounded Rectangle 5"/>
          <p:cNvSpPr/>
          <p:nvPr/>
        </p:nvSpPr>
        <p:spPr>
          <a:xfrm>
            <a:off x="8046720" y="1645920"/>
            <a:ext cx="3383280" cy="4572000"/>
          </a:xfrm>
          <a:prstGeom prst="roundRect">
            <a:avLst/>
          </a:prstGeom>
          <a:solidFill>
            <a:srgbClr val="F5F7FA"/>
          </a:solidFill>
          <a:ln w="12700">
            <a:solidFill>
              <a:srgbClr val="DCE0E6"/>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82880" bIns="182880"/>
          <a:lstStyle/>
          <a:p>
            <a:pPr algn="ctr">
              <a:spcAft>
                <a:spcPts val="800"/>
              </a:spcAft>
              <a:defRPr sz="1400" b="1">
                <a:solidFill>
                  <a:srgbClr val="1A2B4C"/>
                </a:solidFill>
              </a:defRPr>
            </a:pPr>
            <a:r>
              <a:t>Analytical Evaluation Pillars</a:t>
            </a:r>
          </a:p>
          <a:p>
            <a:pPr>
              <a:spcAft>
                <a:spcPts val="400"/>
              </a:spcAft>
              <a:defRPr sz="1100">
                <a:solidFill>
                  <a:srgbClr val="212529"/>
                </a:solidFill>
              </a:defRPr>
            </a:pPr>
            <a:r>
              <a:t>• 1. Architectural Audit: Verify customer and loan identifier linkages.</a:t>
            </a:r>
          </a:p>
          <a:p>
            <a:pPr>
              <a:spcAft>
                <a:spcPts val="400"/>
              </a:spcAft>
              <a:defRPr sz="1100">
                <a:solidFill>
                  <a:srgbClr val="212529"/>
                </a:solidFill>
              </a:defRPr>
            </a:pPr>
            <a:r>
              <a:t>• 2. Empirical Risk Drivers: Statistically evaluate bureau scores, cash flow, and repayment terms.</a:t>
            </a:r>
          </a:p>
          <a:p>
            <a:pPr>
              <a:spcAft>
                <a:spcPts val="400"/>
              </a:spcAft>
              <a:defRPr sz="1100">
                <a:solidFill>
                  <a:srgbClr val="212529"/>
                </a:solidFill>
              </a:defRPr>
            </a:pPr>
            <a:r>
              <a:t>• 3. Fair Lending Hygiene: Deliberately exclude age; review proxy risk attributes.</a:t>
            </a:r>
          </a:p>
          <a:p>
            <a:pPr>
              <a:spcAft>
                <a:spcPts val="400"/>
              </a:spcAft>
              <a:defRPr sz="1100">
                <a:solidFill>
                  <a:srgbClr val="212529"/>
                </a:solidFill>
              </a:defRPr>
            </a:pPr>
            <a:r>
              <a:t>• 4. Leak-Free ML: Model defaults with grouped customer cross-validation.</a:t>
            </a:r>
          </a:p>
          <a:p>
            <a:pPr>
              <a:spcAft>
                <a:spcPts val="400"/>
              </a:spcAft>
              <a:defRPr sz="1100">
                <a:solidFill>
                  <a:srgbClr val="212529"/>
                </a:solidFill>
              </a:defRPr>
            </a:pPr>
            <a:r>
              <a:t>• 5. Governance Caution: Document limitations and reject premature automation.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515600" cy="320040"/>
          </a:xfrm>
          <a:prstGeom prst="rect">
            <a:avLst/>
          </a:prstGeom>
          <a:noFill/>
        </p:spPr>
        <p:txBody>
          <a:bodyPr wrap="square">
            <a:spAutoFit/>
          </a:bodyPr>
          <a:lstStyle/>
          <a:p>
            <a:pPr>
              <a:defRPr sz="1000" b="1">
                <a:solidFill>
                  <a:srgbClr val="788291"/>
                </a:solidFill>
              </a:defRPr>
            </a:pPr>
            <a:r>
              <a:t>TAPLEND INDIA • CREDIT RISK ASSESSMENT</a:t>
            </a:r>
          </a:p>
        </p:txBody>
      </p:sp>
      <p:sp>
        <p:nvSpPr>
          <p:cNvPr id="3" name="TextBox 2"/>
          <p:cNvSpPr txBox="1"/>
          <p:nvPr/>
        </p:nvSpPr>
        <p:spPr>
          <a:xfrm>
            <a:off x="731520" y="640080"/>
            <a:ext cx="10515600" cy="731520"/>
          </a:xfrm>
          <a:prstGeom prst="rect">
            <a:avLst/>
          </a:prstGeom>
          <a:noFill/>
        </p:spPr>
        <p:txBody>
          <a:bodyPr wrap="square">
            <a:spAutoFit/>
          </a:bodyPr>
          <a:lstStyle/>
          <a:p>
            <a:pPr>
              <a:defRPr sz="2200" b="1">
                <a:solidFill>
                  <a:srgbClr val="1A2B4C"/>
                </a:solidFill>
              </a:defRPr>
            </a:pPr>
            <a:r>
              <a:t>Dataset Overview: Two Siloed Tables Across 6 Months</a:t>
            </a:r>
          </a:p>
        </p:txBody>
      </p:sp>
      <p:sp>
        <p:nvSpPr>
          <p:cNvPr id="4" name="Rounded Rectangle 3"/>
          <p:cNvSpPr/>
          <p:nvPr/>
        </p:nvSpPr>
        <p:spPr>
          <a:xfrm>
            <a:off x="731520" y="1645920"/>
            <a:ext cx="5120640" cy="4572000"/>
          </a:xfrm>
          <a:prstGeom prst="roundRect">
            <a:avLst/>
          </a:prstGeom>
          <a:solidFill>
            <a:srgbClr val="F5F7FA"/>
          </a:solidFill>
          <a:ln w="12700">
            <a:solidFill>
              <a:srgbClr val="DCE0E6"/>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82880" bIns="182880"/>
          <a:lstStyle/>
          <a:p>
            <a:pPr algn="ctr">
              <a:spcAft>
                <a:spcPts val="800"/>
              </a:spcAft>
              <a:defRPr sz="1400" b="1">
                <a:solidFill>
                  <a:srgbClr val="1A2B4C"/>
                </a:solidFill>
              </a:defRPr>
            </a:pPr>
            <a:r>
              <a:t>Application Data (N = 647)</a:t>
            </a:r>
          </a:p>
          <a:p>
            <a:pPr>
              <a:spcAft>
                <a:spcPts val="400"/>
              </a:spcAft>
              <a:defRPr sz="1100">
                <a:solidFill>
                  <a:srgbClr val="212529"/>
                </a:solidFill>
              </a:defRPr>
            </a:pPr>
            <a:r>
              <a:t>• Observation Window: October 16, 2010 to April 17, 2011 (exact 6 months).</a:t>
            </a:r>
          </a:p>
          <a:p>
            <a:pPr>
              <a:spcAft>
                <a:spcPts val="400"/>
              </a:spcAft>
              <a:defRPr sz="1100">
                <a:solidFill>
                  <a:srgbClr val="212529"/>
                </a:solidFill>
              </a:defRPr>
            </a:pPr>
            <a:r>
              <a:t>• Dimensions: 647 rows × 31 columns. 100% unique customer IDs.</a:t>
            </a:r>
          </a:p>
          <a:p>
            <a:pPr>
              <a:spcAft>
                <a:spcPts val="400"/>
              </a:spcAft>
              <a:defRPr sz="1100">
                <a:solidFill>
                  <a:srgbClr val="212529"/>
                </a:solidFill>
              </a:defRPr>
            </a:pPr>
            <a:r>
              <a:t>• Applicant Demographics: Birth date, housing tenure, residence rent vs. own.</a:t>
            </a:r>
          </a:p>
          <a:p>
            <a:pPr>
              <a:spcAft>
                <a:spcPts val="400"/>
              </a:spcAft>
              <a:defRPr sz="1100">
                <a:solidFill>
                  <a:srgbClr val="212529"/>
                </a:solidFill>
              </a:defRPr>
            </a:pPr>
            <a:r>
              <a:t>• Financial Attributes: Self-reported monthly income ($2,618 avg), monthly rent.</a:t>
            </a:r>
          </a:p>
          <a:p>
            <a:pPr>
              <a:spcAft>
                <a:spcPts val="400"/>
              </a:spcAft>
              <a:defRPr sz="1100">
                <a:solidFill>
                  <a:srgbClr val="212529"/>
                </a:solidFill>
              </a:defRPr>
            </a:pPr>
            <a:r>
              <a:t>• Credit Bureau Scores: raw_l2c_score, plus four specialized FICO scores (Retail, Telecom, Bank Card, Money).</a:t>
            </a:r>
          </a:p>
          <a:p>
            <a:pPr>
              <a:spcAft>
                <a:spcPts val="400"/>
              </a:spcAft>
              <a:defRPr sz="1100">
                <a:solidFill>
                  <a:srgbClr val="212529"/>
                </a:solidFill>
              </a:defRPr>
            </a:pPr>
            <a:r>
              <a:t>• Requested Terms: Amount requested ($300–$1,000), duration, payment frequency (weekly to monthly).</a:t>
            </a:r>
          </a:p>
          <a:p>
            <a:pPr>
              <a:spcAft>
                <a:spcPts val="400"/>
              </a:spcAft>
              <a:defRPr sz="1100">
                <a:solidFill>
                  <a:srgbClr val="212529"/>
                </a:solidFill>
              </a:defRPr>
            </a:pPr>
            <a:r>
              <a:t>• Post-Decision Fields: amount_approved, duration_approved (must be excluded).</a:t>
            </a:r>
          </a:p>
        </p:txBody>
      </p:sp>
      <p:sp>
        <p:nvSpPr>
          <p:cNvPr id="5" name="Rounded Rectangle 4"/>
          <p:cNvSpPr/>
          <p:nvPr/>
        </p:nvSpPr>
        <p:spPr>
          <a:xfrm>
            <a:off x="6217920" y="1645920"/>
            <a:ext cx="5212080" cy="4572000"/>
          </a:xfrm>
          <a:prstGeom prst="roundRect">
            <a:avLst/>
          </a:prstGeom>
          <a:solidFill>
            <a:srgbClr val="F5F7FA"/>
          </a:solidFill>
          <a:ln w="12700">
            <a:solidFill>
              <a:srgbClr val="DCE0E6"/>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82880" bIns="182880"/>
          <a:lstStyle/>
          <a:p>
            <a:pPr algn="ctr">
              <a:spcAft>
                <a:spcPts val="800"/>
              </a:spcAft>
              <a:defRPr sz="1400" b="1">
                <a:solidFill>
                  <a:srgbClr val="1A2B4C"/>
                </a:solidFill>
              </a:defRPr>
            </a:pPr>
            <a:r>
              <a:t>Loan Performance (N = 1,285)</a:t>
            </a:r>
          </a:p>
          <a:p>
            <a:pPr>
              <a:spcAft>
                <a:spcPts val="400"/>
              </a:spcAft>
              <a:defRPr sz="1100">
                <a:solidFill>
                  <a:srgbClr val="212529"/>
                </a:solidFill>
              </a:defRPr>
            </a:pPr>
            <a:r>
              <a:t>• Portfolio Coverage: All loans issued during the same 6-month period.</a:t>
            </a:r>
          </a:p>
          <a:p>
            <a:pPr>
              <a:spcAft>
                <a:spcPts val="400"/>
              </a:spcAft>
              <a:defRPr sz="1100">
                <a:solidFill>
                  <a:srgbClr val="212529"/>
                </a:solidFill>
              </a:defRPr>
            </a:pPr>
            <a:r>
              <a:t>• Dimensions: 1,285 rows × 2 columns (idLoan, flgGood).</a:t>
            </a:r>
          </a:p>
          <a:p>
            <a:pPr>
              <a:spcAft>
                <a:spcPts val="400"/>
              </a:spcAft>
              <a:defRPr sz="1100">
                <a:solidFill>
                  <a:srgbClr val="212529"/>
                </a:solidFill>
              </a:defRPr>
            </a:pPr>
            <a:r>
              <a:t>• Outcome Label: Binary repayment performance (Good vs. Bad).</a:t>
            </a:r>
          </a:p>
          <a:p>
            <a:pPr>
              <a:spcAft>
                <a:spcPts val="400"/>
              </a:spcAft>
              <a:defRPr sz="1100">
                <a:solidFill>
                  <a:srgbClr val="212529"/>
                </a:solidFill>
              </a:defRPr>
            </a:pPr>
            <a:r>
              <a:t>• Overall Outcome Distribution: 769 Good loans (59.84%) vs. 516 Bad loans (40.16%).</a:t>
            </a:r>
          </a:p>
          <a:p>
            <a:pPr>
              <a:spcAft>
                <a:spcPts val="400"/>
              </a:spcAft>
              <a:defRPr sz="1100">
                <a:solidFill>
                  <a:srgbClr val="212529"/>
                </a:solidFill>
              </a:defRPr>
            </a:pPr>
            <a:r>
              <a:t>• No Date Stamps: Loan Performance lacks disbursement or maturity timestamps.</a:t>
            </a:r>
          </a:p>
          <a:p>
            <a:pPr>
              <a:spcAft>
                <a:spcPts val="400"/>
              </a:spcAft>
              <a:defRPr sz="1100">
                <a:solidFill>
                  <a:srgbClr val="212529"/>
                </a:solidFill>
              </a:defRPr>
            </a:pPr>
            <a:r>
              <a:t>• Identifier Structure: idLoan combines customer hex prefix with loan sequence (e.g. 9ECE67D6C5-01).</a:t>
            </a:r>
          </a:p>
          <a:p>
            <a:pPr>
              <a:spcAft>
                <a:spcPts val="400"/>
              </a:spcAft>
              <a:defRPr sz="1100">
                <a:solidFill>
                  <a:srgbClr val="212529"/>
                </a:solidFill>
              </a:defRPr>
            </a:pPr>
            <a:r>
              <a:t>• Core Investigation: Why are there 1,285 loans for only 647 application records?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515600" cy="320040"/>
          </a:xfrm>
          <a:prstGeom prst="rect">
            <a:avLst/>
          </a:prstGeom>
          <a:noFill/>
        </p:spPr>
        <p:txBody>
          <a:bodyPr wrap="square">
            <a:spAutoFit/>
          </a:bodyPr>
          <a:lstStyle/>
          <a:p>
            <a:pPr>
              <a:defRPr sz="1000" b="1">
                <a:solidFill>
                  <a:srgbClr val="788291"/>
                </a:solidFill>
              </a:defRPr>
            </a:pPr>
            <a:r>
              <a:t>TAPLEND INDIA • CREDIT RISK ASSESSMENT</a:t>
            </a:r>
          </a:p>
        </p:txBody>
      </p:sp>
      <p:sp>
        <p:nvSpPr>
          <p:cNvPr id="3" name="TextBox 2"/>
          <p:cNvSpPr txBox="1"/>
          <p:nvPr/>
        </p:nvSpPr>
        <p:spPr>
          <a:xfrm>
            <a:off x="731520" y="640080"/>
            <a:ext cx="10515600" cy="731520"/>
          </a:xfrm>
          <a:prstGeom prst="rect">
            <a:avLst/>
          </a:prstGeom>
          <a:noFill/>
        </p:spPr>
        <p:txBody>
          <a:bodyPr wrap="square">
            <a:spAutoFit/>
          </a:bodyPr>
          <a:lstStyle/>
          <a:p>
            <a:pPr>
              <a:defRPr sz="2200" b="1">
                <a:solidFill>
                  <a:srgbClr val="1A2B4C"/>
                </a:solidFill>
              </a:defRPr>
            </a:pPr>
            <a:r>
              <a:t>The Data Matching Problem: Investigation &amp; Verified Findings</a:t>
            </a:r>
          </a:p>
        </p:txBody>
      </p:sp>
      <p:sp>
        <p:nvSpPr>
          <p:cNvPr id="4" name="Rounded Rectangle 3"/>
          <p:cNvSpPr/>
          <p:nvPr/>
        </p:nvSpPr>
        <p:spPr>
          <a:xfrm>
            <a:off x="731520" y="1645920"/>
            <a:ext cx="5120640" cy="4572000"/>
          </a:xfrm>
          <a:prstGeom prst="roundRect">
            <a:avLst/>
          </a:prstGeom>
          <a:solidFill>
            <a:srgbClr val="F5F7FA"/>
          </a:solidFill>
          <a:ln w="12700">
            <a:solidFill>
              <a:srgbClr val="DCE0E6"/>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82880" bIns="182880"/>
          <a:lstStyle/>
          <a:p>
            <a:pPr algn="ctr">
              <a:spcAft>
                <a:spcPts val="800"/>
              </a:spcAft>
              <a:defRPr sz="1400" b="1">
                <a:solidFill>
                  <a:srgbClr val="1A2B4C"/>
                </a:solidFill>
              </a:defRPr>
            </a:pPr>
            <a:r>
              <a:t>Forensic Matching Investigation</a:t>
            </a:r>
          </a:p>
          <a:p>
            <a:pPr>
              <a:spcAft>
                <a:spcPts val="400"/>
              </a:spcAft>
              <a:defRPr sz="1100">
                <a:solidFill>
                  <a:srgbClr val="212529"/>
                </a:solidFill>
              </a:defRPr>
            </a:pPr>
            <a:r>
              <a:t>• Identifier Architecture: customer_id is a 10-char hex string; idLoan prefixes match these 10-char hex hashes.</a:t>
            </a:r>
          </a:p>
          <a:p>
            <a:pPr>
              <a:spcAft>
                <a:spcPts val="400"/>
              </a:spcAft>
              <a:defRPr sz="1100">
                <a:solidFill>
                  <a:srgbClr val="212529"/>
                </a:solidFill>
              </a:defRPr>
            </a:pPr>
            <a:r>
              <a:t>• Repeat Borrowers (16 Loans): 16 customers took a second loan (-02). All 16 were Good on loan -01, and 13 were Good on loan -02 (18.75% default rate).</a:t>
            </a:r>
          </a:p>
          <a:p>
            <a:pPr>
              <a:spcAft>
                <a:spcPts val="400"/>
              </a:spcAft>
              <a:defRPr sz="1100">
                <a:solidFill>
                  <a:srgbClr val="212529"/>
                </a:solidFill>
              </a:defRPr>
            </a:pPr>
            <a:r>
              <a:t>• Justified Correction (Row 567): 902431691 lost its leading zero in Excel; restoring it matches loan 0902431691-01, yielding 657 matched loans across 641 applicants.</a:t>
            </a:r>
          </a:p>
          <a:p>
            <a:pPr>
              <a:spcAft>
                <a:spcPts val="400"/>
              </a:spcAft>
              <a:defRPr sz="1100">
                <a:solidFill>
                  <a:srgbClr val="212529"/>
                </a:solidFill>
              </a:defRPr>
            </a:pPr>
            <a:r>
              <a:t>• The 628 Unmatched Loans:</a:t>
            </a:r>
          </a:p>
          <a:p>
            <a:pPr>
              <a:spcAft>
                <a:spcPts val="400"/>
              </a:spcAft>
              <a:defRPr sz="1100">
                <a:solidFill>
                  <a:srgbClr val="212529"/>
                </a:solidFill>
              </a:defRPr>
            </a:pPr>
            <a:r>
              <a:t>•   • An exhaustive check confirms that these 628 prefixes do NOT appear anywhere in Application Data.</a:t>
            </a:r>
          </a:p>
          <a:p>
            <a:pPr>
              <a:spcAft>
                <a:spcPts val="400"/>
              </a:spcAft>
              <a:defRPr sz="1100">
                <a:solidFill>
                  <a:srgbClr val="212529"/>
                </a:solidFill>
              </a:defRPr>
            </a:pPr>
            <a:r>
              <a:t>•   • Missingness is not inferred from row order: Application Data is simply an incomplete extract covering only 647 of the portfolio's 1,269 total borrowers.</a:t>
            </a:r>
          </a:p>
          <a:p>
            <a:pPr>
              <a:spcAft>
                <a:spcPts val="400"/>
              </a:spcAft>
              <a:defRPr sz="1100">
                <a:solidFill>
                  <a:srgbClr val="212529"/>
                </a:solidFill>
              </a:defRPr>
            </a:pPr>
            <a:r>
              <a:t>•   • Matched default rate = 54.03% vs. Unmatched = 25.64% (Non-random missingness).</a:t>
            </a:r>
          </a:p>
          <a:p>
            <a:pPr>
              <a:spcAft>
                <a:spcPts val="400"/>
              </a:spcAft>
              <a:defRPr sz="1100">
                <a:solidFill>
                  <a:srgbClr val="212529"/>
                </a:solidFill>
              </a:defRPr>
            </a:pPr>
            <a:r>
              <a:t>• Governance Rule: We strictly do NOT invent artificial join keys. The 628 loans lack feature data and cannot be used for predictive training.</a:t>
            </a:r>
          </a:p>
        </p:txBody>
      </p:sp>
      <p:pic>
        <p:nvPicPr>
          <p:cNvPr id="5" name="Picture 4" descr="matched_vs_unmatched_comparison.png"/>
          <p:cNvPicPr>
            <a:picLocks noChangeAspect="1"/>
          </p:cNvPicPr>
          <p:nvPr/>
        </p:nvPicPr>
        <p:blipFill>
          <a:blip r:embed="rId2"/>
          <a:stretch>
            <a:fillRect/>
          </a:stretch>
        </p:blipFill>
        <p:spPr>
          <a:xfrm>
            <a:off x="6217920" y="1645920"/>
            <a:ext cx="5212080" cy="457200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515600" cy="320040"/>
          </a:xfrm>
          <a:prstGeom prst="rect">
            <a:avLst/>
          </a:prstGeom>
          <a:noFill/>
        </p:spPr>
        <p:txBody>
          <a:bodyPr wrap="square">
            <a:spAutoFit/>
          </a:bodyPr>
          <a:lstStyle/>
          <a:p>
            <a:pPr>
              <a:defRPr sz="1000" b="1">
                <a:solidFill>
                  <a:srgbClr val="788291"/>
                </a:solidFill>
              </a:defRPr>
            </a:pPr>
            <a:r>
              <a:t>TAPLEND INDIA • CREDIT RISK ASSESSMENT</a:t>
            </a:r>
          </a:p>
        </p:txBody>
      </p:sp>
      <p:sp>
        <p:nvSpPr>
          <p:cNvPr id="3" name="TextBox 2"/>
          <p:cNvSpPr txBox="1"/>
          <p:nvPr/>
        </p:nvSpPr>
        <p:spPr>
          <a:xfrm>
            <a:off x="731520" y="640080"/>
            <a:ext cx="10515600" cy="731520"/>
          </a:xfrm>
          <a:prstGeom prst="rect">
            <a:avLst/>
          </a:prstGeom>
          <a:noFill/>
        </p:spPr>
        <p:txBody>
          <a:bodyPr wrap="square">
            <a:spAutoFit/>
          </a:bodyPr>
          <a:lstStyle/>
          <a:p>
            <a:pPr>
              <a:defRPr sz="2200" b="1">
                <a:solidFill>
                  <a:srgbClr val="1A2B4C"/>
                </a:solidFill>
              </a:defRPr>
            </a:pPr>
            <a:r>
              <a:t>Exploratory Data Analysis: Empirical Risk Drivers &amp; Surprises</a:t>
            </a:r>
          </a:p>
        </p:txBody>
      </p:sp>
      <p:sp>
        <p:nvSpPr>
          <p:cNvPr id="4" name="Rounded Rectangle 3"/>
          <p:cNvSpPr/>
          <p:nvPr/>
        </p:nvSpPr>
        <p:spPr>
          <a:xfrm>
            <a:off x="731520" y="1645920"/>
            <a:ext cx="5120640" cy="4572000"/>
          </a:xfrm>
          <a:prstGeom prst="roundRect">
            <a:avLst/>
          </a:prstGeom>
          <a:solidFill>
            <a:srgbClr val="F5F7FA"/>
          </a:solidFill>
          <a:ln w="12700">
            <a:solidFill>
              <a:srgbClr val="DCE0E6"/>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82880" bIns="182880"/>
          <a:lstStyle/>
          <a:p>
            <a:pPr algn="ctr">
              <a:spcAft>
                <a:spcPts val="800"/>
              </a:spcAft>
              <a:defRPr sz="1400" b="1">
                <a:solidFill>
                  <a:srgbClr val="1A2B4C"/>
                </a:solidFill>
              </a:defRPr>
            </a:pPr>
            <a:r>
              <a:t>Statistical Findings Across Features</a:t>
            </a:r>
          </a:p>
          <a:p>
            <a:pPr>
              <a:spcAft>
                <a:spcPts val="400"/>
              </a:spcAft>
              <a:defRPr sz="1100">
                <a:solidFill>
                  <a:srgbClr val="212529"/>
                </a:solidFill>
              </a:defRPr>
            </a:pPr>
            <a:r>
              <a:t>• Credit Bureau Scores Separate Risk (p &lt; 0.001):</a:t>
            </a:r>
          </a:p>
          <a:p>
            <a:pPr>
              <a:spcAft>
                <a:spcPts val="400"/>
              </a:spcAft>
              <a:defRPr sz="1100">
                <a:solidFill>
                  <a:srgbClr val="212529"/>
                </a:solidFill>
              </a:defRPr>
            </a:pPr>
            <a:r>
              <a:t>•   • FICO Retail: Good borrowers avg 607.2 vs. Bad avg 588.1.</a:t>
            </a:r>
          </a:p>
          <a:p>
            <a:pPr>
              <a:spcAft>
                <a:spcPts val="400"/>
              </a:spcAft>
              <a:defRPr sz="1100">
                <a:solidFill>
                  <a:srgbClr val="212529"/>
                </a:solidFill>
              </a:defRPr>
            </a:pPr>
            <a:r>
              <a:t>•   • FICO Telecom: Good avg 576.2 vs. Bad avg 562.6.</a:t>
            </a:r>
          </a:p>
          <a:p>
            <a:pPr>
              <a:spcAft>
                <a:spcPts val="400"/>
              </a:spcAft>
              <a:defRPr sz="1100">
                <a:solidFill>
                  <a:srgbClr val="212529"/>
                </a:solidFill>
              </a:defRPr>
            </a:pPr>
            <a:r>
              <a:t>•   • FICO Bank Card: Good avg 671.8 vs. Bad avg 659.4.</a:t>
            </a:r>
          </a:p>
          <a:p>
            <a:pPr>
              <a:spcAft>
                <a:spcPts val="400"/>
              </a:spcAft>
              <a:defRPr sz="1100">
                <a:solidFill>
                  <a:srgbClr val="212529"/>
                </a:solidFill>
              </a:defRPr>
            </a:pPr>
            <a:r>
              <a:t>•   • FICO Money: Good avg 607.5 vs. Bad avg 599.3.</a:t>
            </a:r>
          </a:p>
          <a:p>
            <a:pPr>
              <a:spcAft>
                <a:spcPts val="400"/>
              </a:spcAft>
              <a:defRPr sz="1100">
                <a:solidFill>
                  <a:srgbClr val="212529"/>
                </a:solidFill>
              </a:defRPr>
            </a:pPr>
            <a:r>
              <a:t>• Monthly Income Does NOT Predict Default (p = 0.729):</a:t>
            </a:r>
          </a:p>
          <a:p>
            <a:pPr>
              <a:spcAft>
                <a:spcPts val="400"/>
              </a:spcAft>
              <a:defRPr sz="1100">
                <a:solidFill>
                  <a:srgbClr val="212529"/>
                </a:solidFill>
              </a:defRPr>
            </a:pPr>
            <a:r>
              <a:t>•   • Good borrowers avg $2,641 vs. Bad avg $2,595.</a:t>
            </a:r>
          </a:p>
          <a:p>
            <a:pPr>
              <a:spcAft>
                <a:spcPts val="400"/>
              </a:spcAft>
              <a:defRPr sz="1100">
                <a:solidFill>
                  <a:srgbClr val="212529"/>
                </a:solidFill>
              </a:defRPr>
            </a:pPr>
            <a:r>
              <a:t>•   • Zero statistical correlation with default risk.</a:t>
            </a:r>
          </a:p>
          <a:p>
            <a:pPr>
              <a:spcAft>
                <a:spcPts val="400"/>
              </a:spcAft>
              <a:defRPr sz="1100">
                <a:solidFill>
                  <a:srgbClr val="212529"/>
                </a:solidFill>
              </a:defRPr>
            </a:pPr>
            <a:r>
              <a:t>•   • Takeaway: Stated gross income without verified debt service obligations (DTI) is uninformative.</a:t>
            </a:r>
          </a:p>
          <a:p>
            <a:pPr>
              <a:spcAft>
                <a:spcPts val="400"/>
              </a:spcAft>
              <a:defRPr sz="1100">
                <a:solidFill>
                  <a:srgbClr val="212529"/>
                </a:solidFill>
              </a:defRPr>
            </a:pPr>
            <a:r>
              <a:t>• Applicant Age Correlation (Removed from Model):</a:t>
            </a:r>
          </a:p>
          <a:p>
            <a:pPr>
              <a:spcAft>
                <a:spcPts val="400"/>
              </a:spcAft>
              <a:defRPr sz="1100">
                <a:solidFill>
                  <a:srgbClr val="212529"/>
                </a:solidFill>
              </a:defRPr>
            </a:pPr>
            <a:r>
              <a:t>•   • Good borrowers were slightly older (44.2 vs. 40.3 years, p &lt; 0.001).</a:t>
            </a:r>
          </a:p>
          <a:p>
            <a:pPr>
              <a:spcAft>
                <a:spcPts val="400"/>
              </a:spcAft>
              <a:defRPr sz="1100">
                <a:solidFill>
                  <a:srgbClr val="212529"/>
                </a:solidFill>
              </a:defRPr>
            </a:pPr>
            <a:r>
              <a:t>•   • Regulatory Notice: Age was deliberately removed from predictive features to comply with fair lending (ECOA) rules.</a:t>
            </a:r>
          </a:p>
        </p:txBody>
      </p:sp>
      <p:pic>
        <p:nvPicPr>
          <p:cNvPr id="5" name="Picture 4" descr="fico_scores_by_outcome.png"/>
          <p:cNvPicPr>
            <a:picLocks noChangeAspect="1"/>
          </p:cNvPicPr>
          <p:nvPr/>
        </p:nvPicPr>
        <p:blipFill>
          <a:blip r:embed="rId2"/>
          <a:stretch>
            <a:fillRect/>
          </a:stretch>
        </p:blipFill>
        <p:spPr>
          <a:xfrm>
            <a:off x="6217920" y="1645920"/>
            <a:ext cx="5212080" cy="457200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515600" cy="320040"/>
          </a:xfrm>
          <a:prstGeom prst="rect">
            <a:avLst/>
          </a:prstGeom>
          <a:noFill/>
        </p:spPr>
        <p:txBody>
          <a:bodyPr wrap="square">
            <a:spAutoFit/>
          </a:bodyPr>
          <a:lstStyle/>
          <a:p>
            <a:pPr>
              <a:defRPr sz="1000" b="1">
                <a:solidFill>
                  <a:srgbClr val="788291"/>
                </a:solidFill>
              </a:defRPr>
            </a:pPr>
            <a:r>
              <a:t>TAPLEND INDIA • CREDIT RISK ASSESSMENT</a:t>
            </a:r>
          </a:p>
        </p:txBody>
      </p:sp>
      <p:sp>
        <p:nvSpPr>
          <p:cNvPr id="3" name="TextBox 2"/>
          <p:cNvSpPr txBox="1"/>
          <p:nvPr/>
        </p:nvSpPr>
        <p:spPr>
          <a:xfrm>
            <a:off x="731520" y="640080"/>
            <a:ext cx="10515600" cy="731520"/>
          </a:xfrm>
          <a:prstGeom prst="rect">
            <a:avLst/>
          </a:prstGeom>
          <a:noFill/>
        </p:spPr>
        <p:txBody>
          <a:bodyPr wrap="square">
            <a:spAutoFit/>
          </a:bodyPr>
          <a:lstStyle/>
          <a:p>
            <a:pPr>
              <a:defRPr sz="2200" b="1">
                <a:solidFill>
                  <a:srgbClr val="1A2B4C"/>
                </a:solidFill>
              </a:defRPr>
            </a:pPr>
            <a:r>
              <a:t>Payment Frequency &amp; Repeat Borrower Dynamics</a:t>
            </a:r>
          </a:p>
        </p:txBody>
      </p:sp>
      <p:sp>
        <p:nvSpPr>
          <p:cNvPr id="4" name="Rounded Rectangle 3"/>
          <p:cNvSpPr/>
          <p:nvPr/>
        </p:nvSpPr>
        <p:spPr>
          <a:xfrm>
            <a:off x="731520" y="1645920"/>
            <a:ext cx="5120640" cy="4572000"/>
          </a:xfrm>
          <a:prstGeom prst="roundRect">
            <a:avLst/>
          </a:prstGeom>
          <a:solidFill>
            <a:srgbClr val="F5F7FA"/>
          </a:solidFill>
          <a:ln w="12700">
            <a:solidFill>
              <a:srgbClr val="DCE0E6"/>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82880" bIns="182880"/>
          <a:lstStyle/>
          <a:p>
            <a:pPr algn="ctr">
              <a:spcAft>
                <a:spcPts val="800"/>
              </a:spcAft>
              <a:defRPr sz="1400" b="1">
                <a:solidFill>
                  <a:srgbClr val="1A2B4C"/>
                </a:solidFill>
              </a:defRPr>
            </a:pPr>
            <a:r>
              <a:t>Underwriting Schedule Observations</a:t>
            </a:r>
          </a:p>
          <a:p>
            <a:pPr>
              <a:spcAft>
                <a:spcPts val="400"/>
              </a:spcAft>
              <a:defRPr sz="1100">
                <a:solidFill>
                  <a:srgbClr val="212529"/>
                </a:solidFill>
              </a:defRPr>
            </a:pPr>
            <a:r>
              <a:t>• Weekly Payment Frequency Risk (Association ≠ Causation):</a:t>
            </a:r>
          </a:p>
          <a:p>
            <a:pPr>
              <a:spcAft>
                <a:spcPts val="400"/>
              </a:spcAft>
              <a:defRPr sz="1100">
                <a:solidFill>
                  <a:srgbClr val="212529"/>
                </a:solidFill>
              </a:defRPr>
            </a:pPr>
            <a:r>
              <a:t>•   • Borrowers on weekly schedules had an 81.5% default rate.</a:t>
            </a:r>
          </a:p>
          <a:p>
            <a:pPr>
              <a:spcAft>
                <a:spcPts val="400"/>
              </a:spcAft>
              <a:defRPr sz="1100">
                <a:solidFill>
                  <a:srgbClr val="212529"/>
                </a:solidFill>
              </a:defRPr>
            </a:pPr>
            <a:r>
              <a:t>•   • Critical Subgroup Limitation: Only 27 total loans were weekly (22 defaults).</a:t>
            </a:r>
          </a:p>
          <a:p>
            <a:pPr>
              <a:spcAft>
                <a:spcPts val="400"/>
              </a:spcAft>
              <a:defRPr sz="1100">
                <a:solidFill>
                  <a:srgbClr val="212529"/>
                </a:solidFill>
              </a:defRPr>
            </a:pPr>
            <a:r>
              <a:t>•   • Interpretation: Weekly schedules do not inherently cause default; borrowers selecting weekly terms likely possess volatile cash flows or irregular wages.</a:t>
            </a:r>
          </a:p>
          <a:p>
            <a:pPr>
              <a:spcAft>
                <a:spcPts val="400"/>
              </a:spcAft>
              <a:defRPr sz="1100">
                <a:solidFill>
                  <a:srgbClr val="212529"/>
                </a:solidFill>
              </a:defRPr>
            </a:pPr>
            <a:r>
              <a:t>• Bi-Weekly Repayments (63.1% Bad):</a:t>
            </a:r>
          </a:p>
          <a:p>
            <a:pPr>
              <a:spcAft>
                <a:spcPts val="400"/>
              </a:spcAft>
              <a:defRPr sz="1100">
                <a:solidFill>
                  <a:srgbClr val="212529"/>
                </a:solidFill>
              </a:defRPr>
            </a:pPr>
            <a:r>
              <a:t>•   • Half the portfolio (n = 328). Still exhibits elevated default rates.</a:t>
            </a:r>
          </a:p>
          <a:p>
            <a:pPr>
              <a:spcAft>
                <a:spcPts val="400"/>
              </a:spcAft>
              <a:defRPr sz="1100">
                <a:solidFill>
                  <a:srgbClr val="212529"/>
                </a:solidFill>
              </a:defRPr>
            </a:pPr>
            <a:r>
              <a:t>• Monthly &amp; Semi-Monthly Schedules:</a:t>
            </a:r>
          </a:p>
          <a:p>
            <a:pPr>
              <a:spcAft>
                <a:spcPts val="400"/>
              </a:spcAft>
              <a:defRPr sz="1100">
                <a:solidFill>
                  <a:srgbClr val="212529"/>
                </a:solidFill>
              </a:defRPr>
            </a:pPr>
            <a:r>
              <a:t>•   • Monthly: 43.9% Bad (n = 171) | Semi-Monthly: 41.2% Bad (n = 114).</a:t>
            </a:r>
          </a:p>
          <a:p>
            <a:pPr>
              <a:spcAft>
                <a:spcPts val="400"/>
              </a:spcAft>
              <a:defRPr sz="1100">
                <a:solidFill>
                  <a:srgbClr val="212529"/>
                </a:solidFill>
              </a:defRPr>
            </a:pPr>
            <a:r>
              <a:t>• Repeat Borrower Survivorship Bias:</a:t>
            </a:r>
          </a:p>
          <a:p>
            <a:pPr>
              <a:spcAft>
                <a:spcPts val="400"/>
              </a:spcAft>
              <a:defRPr sz="1100">
                <a:solidFill>
                  <a:srgbClr val="212529"/>
                </a:solidFill>
              </a:defRPr>
            </a:pPr>
            <a:r>
              <a:t>•   • Repeat loans (-02) defaulted at only 18.75% (3/16).</a:t>
            </a:r>
          </a:p>
          <a:p>
            <a:pPr>
              <a:spcAft>
                <a:spcPts val="400"/>
              </a:spcAft>
              <a:defRPr sz="1100">
                <a:solidFill>
                  <a:srgbClr val="212529"/>
                </a:solidFill>
              </a:defRPr>
            </a:pPr>
            <a:r>
              <a:t>•   • Limitation: Sample is tiny (n = 16) and reflects pre-filtered borrowers who already proved creditworthiness on loan -01.</a:t>
            </a:r>
          </a:p>
        </p:txBody>
      </p:sp>
      <p:pic>
        <p:nvPicPr>
          <p:cNvPr id="5" name="Picture 4" descr="payment_frequency_by_outcome.png"/>
          <p:cNvPicPr>
            <a:picLocks noChangeAspect="1"/>
          </p:cNvPicPr>
          <p:nvPr/>
        </p:nvPicPr>
        <p:blipFill>
          <a:blip r:embed="rId2"/>
          <a:stretch>
            <a:fillRect/>
          </a:stretch>
        </p:blipFill>
        <p:spPr>
          <a:xfrm>
            <a:off x="6217920" y="1645920"/>
            <a:ext cx="5212080" cy="457200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515600" cy="320040"/>
          </a:xfrm>
          <a:prstGeom prst="rect">
            <a:avLst/>
          </a:prstGeom>
          <a:noFill/>
        </p:spPr>
        <p:txBody>
          <a:bodyPr wrap="square">
            <a:spAutoFit/>
          </a:bodyPr>
          <a:lstStyle/>
          <a:p>
            <a:pPr>
              <a:defRPr sz="1000" b="1">
                <a:solidFill>
                  <a:srgbClr val="788291"/>
                </a:solidFill>
              </a:defRPr>
            </a:pPr>
            <a:r>
              <a:t>TAPLEND INDIA • CREDIT RISK ASSESSMENT</a:t>
            </a:r>
          </a:p>
        </p:txBody>
      </p:sp>
      <p:sp>
        <p:nvSpPr>
          <p:cNvPr id="3" name="TextBox 2"/>
          <p:cNvSpPr txBox="1"/>
          <p:nvPr/>
        </p:nvSpPr>
        <p:spPr>
          <a:xfrm>
            <a:off x="731520" y="640080"/>
            <a:ext cx="10515600" cy="731520"/>
          </a:xfrm>
          <a:prstGeom prst="rect">
            <a:avLst/>
          </a:prstGeom>
          <a:noFill/>
        </p:spPr>
        <p:txBody>
          <a:bodyPr wrap="square">
            <a:spAutoFit/>
          </a:bodyPr>
          <a:lstStyle/>
          <a:p>
            <a:pPr>
              <a:defRPr sz="2200" b="1">
                <a:solidFill>
                  <a:srgbClr val="1A2B4C"/>
                </a:solidFill>
              </a:defRPr>
            </a:pPr>
            <a:r>
              <a:t>Feature Engineering &amp; Fair Lending Hygiene</a:t>
            </a:r>
          </a:p>
        </p:txBody>
      </p:sp>
      <p:sp>
        <p:nvSpPr>
          <p:cNvPr id="4" name="Rounded Rectangle 3"/>
          <p:cNvSpPr/>
          <p:nvPr/>
        </p:nvSpPr>
        <p:spPr>
          <a:xfrm>
            <a:off x="731520" y="1645920"/>
            <a:ext cx="5120640" cy="4572000"/>
          </a:xfrm>
          <a:prstGeom prst="roundRect">
            <a:avLst/>
          </a:prstGeom>
          <a:solidFill>
            <a:srgbClr val="F5F7FA"/>
          </a:solidFill>
          <a:ln w="12700">
            <a:solidFill>
              <a:srgbClr val="DCE0E6"/>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82880" bIns="182880"/>
          <a:lstStyle/>
          <a:p>
            <a:pPr algn="ctr">
              <a:spcAft>
                <a:spcPts val="800"/>
              </a:spcAft>
              <a:defRPr sz="1400" b="1">
                <a:solidFill>
                  <a:srgbClr val="1A2B4C"/>
                </a:solidFill>
              </a:defRPr>
            </a:pPr>
            <a:r>
              <a:t>Fair Lending Hygiene &amp; Exclusions</a:t>
            </a:r>
          </a:p>
          <a:p>
            <a:pPr>
              <a:spcAft>
                <a:spcPts val="400"/>
              </a:spcAft>
              <a:defRPr sz="1100">
                <a:solidFill>
                  <a:srgbClr val="212529"/>
                </a:solidFill>
              </a:defRPr>
            </a:pPr>
            <a:r>
              <a:t>• Removal of Age (Fair Lending Compliance):</a:t>
            </a:r>
          </a:p>
          <a:p>
            <a:pPr>
              <a:spcAft>
                <a:spcPts val="400"/>
              </a:spcAft>
              <a:defRPr sz="1100">
                <a:solidFill>
                  <a:srgbClr val="212529"/>
                </a:solidFill>
              </a:defRPr>
            </a:pPr>
            <a:r>
              <a:t>•   • Removed from predictive features to comply with Equal Credit Opportunity Act (ECOA) standards.</a:t>
            </a:r>
          </a:p>
          <a:p>
            <a:pPr>
              <a:spcAft>
                <a:spcPts val="400"/>
              </a:spcAft>
              <a:defRPr sz="1100">
                <a:solidFill>
                  <a:srgbClr val="212529"/>
                </a:solidFill>
              </a:defRPr>
            </a:pPr>
            <a:r>
              <a:t>• Proxy Risk Review:</a:t>
            </a:r>
          </a:p>
          <a:p>
            <a:pPr>
              <a:spcAft>
                <a:spcPts val="400"/>
              </a:spcAft>
              <a:defRPr sz="1100">
                <a:solidFill>
                  <a:srgbClr val="212529"/>
                </a:solidFill>
              </a:defRPr>
            </a:pPr>
            <a:r>
              <a:t>•   • Removing age alone does NOT guarantee fairness.</a:t>
            </a:r>
          </a:p>
          <a:p>
            <a:pPr>
              <a:spcAft>
                <a:spcPts val="400"/>
              </a:spcAft>
              <a:defRPr sz="1100">
                <a:solidFill>
                  <a:srgbClr val="212529"/>
                </a:solidFill>
              </a:defRPr>
            </a:pPr>
            <a:r>
              <a:t>•   • Variables like residential duration, bank account tenure, or credit bureau history length can serve as proxy variables for age or other protected traits.</a:t>
            </a:r>
          </a:p>
          <a:p>
            <a:pPr>
              <a:spcAft>
                <a:spcPts val="400"/>
              </a:spcAft>
              <a:defRPr sz="1100">
                <a:solidFill>
                  <a:srgbClr val="212529"/>
                </a:solidFill>
              </a:defRPr>
            </a:pPr>
            <a:r>
              <a:t>•   • Formal Disparate Impact testing required before any commercial deployment.</a:t>
            </a:r>
          </a:p>
          <a:p>
            <a:pPr>
              <a:spcAft>
                <a:spcPts val="400"/>
              </a:spcAft>
              <a:defRPr sz="1100">
                <a:solidFill>
                  <a:srgbClr val="212529"/>
                </a:solidFill>
              </a:defRPr>
            </a:pPr>
            <a:r>
              <a:t>• Target Leakage / Post-Decision Fields (EXCLUDED):</a:t>
            </a:r>
          </a:p>
          <a:p>
            <a:pPr>
              <a:spcAft>
                <a:spcPts val="400"/>
              </a:spcAft>
              <a:defRPr sz="1100">
                <a:solidFill>
                  <a:srgbClr val="212529"/>
                </a:solidFill>
              </a:defRPr>
            </a:pPr>
            <a:r>
              <a:t>•   • amount_approved, duration_approved, payment_amount_approved, status.</a:t>
            </a:r>
          </a:p>
          <a:p>
            <a:pPr>
              <a:spcAft>
                <a:spcPts val="400"/>
              </a:spcAft>
              <a:defRPr sz="1100">
                <a:solidFill>
                  <a:srgbClr val="212529"/>
                </a:solidFill>
              </a:defRPr>
            </a:pPr>
            <a:r>
              <a:t>• PII &amp; Arbitrary Identifiers (EXCLUDED):</a:t>
            </a:r>
          </a:p>
          <a:p>
            <a:pPr>
              <a:spcAft>
                <a:spcPts val="400"/>
              </a:spcAft>
              <a:defRPr sz="1100">
                <a:solidFill>
                  <a:srgbClr val="212529"/>
                </a:solidFill>
              </a:defRPr>
            </a:pPr>
            <a:r>
              <a:t>•   • customer_id, idLoan, customer_key, email, bank_routing_number, address_zip.</a:t>
            </a:r>
          </a:p>
        </p:txBody>
      </p:sp>
      <p:sp>
        <p:nvSpPr>
          <p:cNvPr id="5" name="Rounded Rectangle 4"/>
          <p:cNvSpPr/>
          <p:nvPr/>
        </p:nvSpPr>
        <p:spPr>
          <a:xfrm>
            <a:off x="6217920" y="1645920"/>
            <a:ext cx="5212080" cy="4572000"/>
          </a:xfrm>
          <a:prstGeom prst="roundRect">
            <a:avLst/>
          </a:prstGeom>
          <a:solidFill>
            <a:srgbClr val="F5F7FA"/>
          </a:solidFill>
          <a:ln w="12700">
            <a:solidFill>
              <a:srgbClr val="DCE0E6"/>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82880" bIns="182880"/>
          <a:lstStyle/>
          <a:p>
            <a:pPr algn="ctr">
              <a:spcAft>
                <a:spcPts val="800"/>
              </a:spcAft>
              <a:defRPr sz="1400" b="1">
                <a:solidFill>
                  <a:srgbClr val="1A2B4C"/>
                </a:solidFill>
              </a:defRPr>
            </a:pPr>
            <a:r>
              <a:t>Engineered Application-Time Features</a:t>
            </a:r>
          </a:p>
          <a:p>
            <a:pPr>
              <a:spcAft>
                <a:spcPts val="400"/>
              </a:spcAft>
              <a:defRPr sz="1100">
                <a:solidFill>
                  <a:srgbClr val="212529"/>
                </a:solidFill>
              </a:defRPr>
            </a:pPr>
            <a:r>
              <a:t>• Financial &amp; Debt Burden Ratios (INCLUDED):</a:t>
            </a:r>
          </a:p>
          <a:p>
            <a:pPr>
              <a:spcAft>
                <a:spcPts val="400"/>
              </a:spcAft>
              <a:defRPr sz="1100">
                <a:solidFill>
                  <a:srgbClr val="212529"/>
                </a:solidFill>
              </a:defRPr>
            </a:pPr>
            <a:r>
              <a:t>•   • Payment-to-Income: payment_amount / monthly_income_amount. Measures installment burden relative to cash flow.</a:t>
            </a:r>
          </a:p>
          <a:p>
            <a:pPr>
              <a:spcAft>
                <a:spcPts val="400"/>
              </a:spcAft>
              <a:defRPr sz="1100">
                <a:solidFill>
                  <a:srgbClr val="212529"/>
                </a:solidFill>
              </a:defRPr>
            </a:pPr>
            <a:r>
              <a:t>•   • Rent-to-Income: monthly_rent_amount / monthly_income_amount. Captures fixed housing commitments.</a:t>
            </a:r>
          </a:p>
          <a:p>
            <a:pPr>
              <a:spcAft>
                <a:spcPts val="400"/>
              </a:spcAft>
              <a:defRPr sz="1100">
                <a:solidFill>
                  <a:srgbClr val="212529"/>
                </a:solidFill>
              </a:defRPr>
            </a:pPr>
            <a:r>
              <a:t>•   • Total Repayment Cost Ratio: (num_payments * payment_amount) / amount_requested. Measures effective financing cost multiple.</a:t>
            </a:r>
          </a:p>
          <a:p>
            <a:pPr>
              <a:spcAft>
                <a:spcPts val="400"/>
              </a:spcAft>
              <a:defRPr sz="1100">
                <a:solidFill>
                  <a:srgbClr val="212529"/>
                </a:solidFill>
              </a:defRPr>
            </a:pPr>
            <a:r>
              <a:t>• Credit Bureau Aggregations (INCLUDED):</a:t>
            </a:r>
          </a:p>
          <a:p>
            <a:pPr>
              <a:spcAft>
                <a:spcPts val="400"/>
              </a:spcAft>
              <a:defRPr sz="1100">
                <a:solidFill>
                  <a:srgbClr val="212529"/>
                </a:solidFill>
              </a:defRPr>
            </a:pPr>
            <a:r>
              <a:t>•   • mean_fico: Composite average across Retail, Telecom, Bank Card, and Money FICO scores.</a:t>
            </a:r>
          </a:p>
          <a:p>
            <a:pPr>
              <a:spcAft>
                <a:spcPts val="400"/>
              </a:spcAft>
              <a:defRPr sz="1100">
                <a:solidFill>
                  <a:srgbClr val="212529"/>
                </a:solidFill>
              </a:defRPr>
            </a:pPr>
            <a:r>
              <a:t>• Account &amp; Residence Stability:</a:t>
            </a:r>
          </a:p>
          <a:p>
            <a:pPr>
              <a:spcAft>
                <a:spcPts val="400"/>
              </a:spcAft>
              <a:defRPr sz="1100">
                <a:solidFill>
                  <a:srgbClr val="212529"/>
                </a:solidFill>
              </a:defRPr>
            </a:pPr>
            <a:r>
              <a:t>•   • Tenure Buckets: residence_duration, bank_account_duration, email_duration.</a:t>
            </a:r>
          </a:p>
          <a:p>
            <a:pPr>
              <a:spcAft>
                <a:spcPts val="400"/>
              </a:spcAft>
              <a:defRPr sz="1100">
                <a:solidFill>
                  <a:srgbClr val="212529"/>
                </a:solidFill>
              </a:defRPr>
            </a:pPr>
            <a:r>
              <a:t>•   • Underwriting Schedule: payment_frequency, residence_rent_or_own, direct deposit.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515600" cy="320040"/>
          </a:xfrm>
          <a:prstGeom prst="rect">
            <a:avLst/>
          </a:prstGeom>
          <a:noFill/>
        </p:spPr>
        <p:txBody>
          <a:bodyPr wrap="square">
            <a:spAutoFit/>
          </a:bodyPr>
          <a:lstStyle/>
          <a:p>
            <a:pPr>
              <a:defRPr sz="1000" b="1">
                <a:solidFill>
                  <a:srgbClr val="788291"/>
                </a:solidFill>
              </a:defRPr>
            </a:pPr>
            <a:r>
              <a:t>TAPLEND INDIA • CREDIT RISK ASSESSMENT</a:t>
            </a:r>
          </a:p>
        </p:txBody>
      </p:sp>
      <p:sp>
        <p:nvSpPr>
          <p:cNvPr id="3" name="TextBox 2"/>
          <p:cNvSpPr txBox="1"/>
          <p:nvPr/>
        </p:nvSpPr>
        <p:spPr>
          <a:xfrm>
            <a:off x="731520" y="640080"/>
            <a:ext cx="10515600" cy="731520"/>
          </a:xfrm>
          <a:prstGeom prst="rect">
            <a:avLst/>
          </a:prstGeom>
          <a:noFill/>
        </p:spPr>
        <p:txBody>
          <a:bodyPr wrap="square">
            <a:spAutoFit/>
          </a:bodyPr>
          <a:lstStyle/>
          <a:p>
            <a:pPr>
              <a:defRPr sz="2200" b="1">
                <a:solidFill>
                  <a:srgbClr val="1A2B4C"/>
                </a:solidFill>
              </a:defRPr>
            </a:pPr>
            <a:r>
              <a:t>Modeling Architecture &amp; Leak-Free Validation</a:t>
            </a:r>
          </a:p>
        </p:txBody>
      </p:sp>
      <p:sp>
        <p:nvSpPr>
          <p:cNvPr id="4" name="Rounded Rectangle 3"/>
          <p:cNvSpPr/>
          <p:nvPr/>
        </p:nvSpPr>
        <p:spPr>
          <a:xfrm>
            <a:off x="731520" y="1645920"/>
            <a:ext cx="3291840" cy="4572000"/>
          </a:xfrm>
          <a:prstGeom prst="roundRect">
            <a:avLst/>
          </a:prstGeom>
          <a:solidFill>
            <a:srgbClr val="F5F7FA"/>
          </a:solidFill>
          <a:ln w="12700">
            <a:solidFill>
              <a:srgbClr val="DCE0E6"/>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82880" bIns="182880"/>
          <a:lstStyle/>
          <a:p>
            <a:pPr algn="ctr">
              <a:spcAft>
                <a:spcPts val="800"/>
              </a:spcAft>
              <a:defRPr sz="1400" b="1">
                <a:solidFill>
                  <a:srgbClr val="1A2B4C"/>
                </a:solidFill>
              </a:defRPr>
            </a:pPr>
            <a:r>
              <a:t>Preventing Customer Leakage</a:t>
            </a:r>
          </a:p>
          <a:p>
            <a:pPr>
              <a:spcAft>
                <a:spcPts val="400"/>
              </a:spcAft>
              <a:defRPr sz="1100">
                <a:solidFill>
                  <a:srgbClr val="212529"/>
                </a:solidFill>
              </a:defRPr>
            </a:pPr>
            <a:r>
              <a:t>• 16 repeat borrowers have multiple loans (-01 and -02).</a:t>
            </a:r>
          </a:p>
          <a:p>
            <a:pPr>
              <a:spcAft>
                <a:spcPts val="400"/>
              </a:spcAft>
              <a:defRPr sz="1100">
                <a:solidFill>
                  <a:srgbClr val="212529"/>
                </a:solidFill>
              </a:defRPr>
            </a:pPr>
            <a:r>
              <a:t>• Random row-level splitting would leak the same customer's traits into both train and test.</a:t>
            </a:r>
          </a:p>
          <a:p>
            <a:pPr>
              <a:spcAft>
                <a:spcPts val="400"/>
              </a:spcAft>
              <a:defRPr sz="1100">
                <a:solidFill>
                  <a:srgbClr val="212529"/>
                </a:solidFill>
              </a:defRPr>
            </a:pPr>
            <a:r>
              <a:t>• Solution: GroupShuffleSplit grouped strictly on customer_key.</a:t>
            </a:r>
          </a:p>
          <a:p>
            <a:pPr>
              <a:spcAft>
                <a:spcPts val="400"/>
              </a:spcAft>
              <a:defRPr sz="1100">
                <a:solidFill>
                  <a:srgbClr val="212529"/>
                </a:solidFill>
              </a:defRPr>
            </a:pPr>
            <a:r>
              <a:t>• Train: 80% of customer groups (n = 524 loans).</a:t>
            </a:r>
          </a:p>
          <a:p>
            <a:pPr>
              <a:spcAft>
                <a:spcPts val="400"/>
              </a:spcAft>
              <a:defRPr sz="1100">
                <a:solidFill>
                  <a:srgbClr val="212529"/>
                </a:solidFill>
              </a:defRPr>
            </a:pPr>
            <a:r>
              <a:t>• Test: 20% of customer groups (n = 133 loans).</a:t>
            </a:r>
          </a:p>
          <a:p>
            <a:pPr>
              <a:spcAft>
                <a:spcPts val="400"/>
              </a:spcAft>
              <a:defRPr sz="1100">
                <a:solidFill>
                  <a:srgbClr val="212529"/>
                </a:solidFill>
              </a:defRPr>
            </a:pPr>
            <a:r>
              <a:t>• Guarantees holdout independence.</a:t>
            </a:r>
          </a:p>
        </p:txBody>
      </p:sp>
      <p:sp>
        <p:nvSpPr>
          <p:cNvPr id="5" name="Rounded Rectangle 4"/>
          <p:cNvSpPr/>
          <p:nvPr/>
        </p:nvSpPr>
        <p:spPr>
          <a:xfrm>
            <a:off x="4389120" y="1645920"/>
            <a:ext cx="3291840" cy="4572000"/>
          </a:xfrm>
          <a:prstGeom prst="roundRect">
            <a:avLst/>
          </a:prstGeom>
          <a:solidFill>
            <a:srgbClr val="F5F7FA"/>
          </a:solidFill>
          <a:ln w="12700">
            <a:solidFill>
              <a:srgbClr val="DCE0E6"/>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82880" bIns="182880"/>
          <a:lstStyle/>
          <a:p>
            <a:pPr algn="ctr">
              <a:spcAft>
                <a:spcPts val="800"/>
              </a:spcAft>
              <a:defRPr sz="1400" b="1">
                <a:solidFill>
                  <a:srgbClr val="1A2B4C"/>
                </a:solidFill>
              </a:defRPr>
            </a:pPr>
            <a:r>
              <a:t>Scikit-Learn Preprocessing</a:t>
            </a:r>
          </a:p>
          <a:p>
            <a:pPr>
              <a:spcAft>
                <a:spcPts val="400"/>
              </a:spcAft>
              <a:defRPr sz="1100">
                <a:solidFill>
                  <a:srgbClr val="212529"/>
                </a:solidFill>
              </a:defRPr>
            </a:pPr>
            <a:r>
              <a:t>• Strict Featurization Order:</a:t>
            </a:r>
          </a:p>
          <a:p>
            <a:pPr>
              <a:spcAft>
                <a:spcPts val="400"/>
              </a:spcAft>
              <a:defRPr sz="1100">
                <a:solidFill>
                  <a:srgbClr val="212529"/>
                </a:solidFill>
              </a:defRPr>
            </a:pPr>
            <a:r>
              <a:t>• Pipelines fitted ONLY on training split.</a:t>
            </a:r>
          </a:p>
          <a:p>
            <a:pPr>
              <a:spcAft>
                <a:spcPts val="400"/>
              </a:spcAft>
              <a:defRPr sz="1100">
                <a:solidFill>
                  <a:srgbClr val="212529"/>
                </a:solidFill>
              </a:defRPr>
            </a:pPr>
            <a:r>
              <a:t>• Numerical Pipeline (15 Features):</a:t>
            </a:r>
          </a:p>
          <a:p>
            <a:pPr>
              <a:spcAft>
                <a:spcPts val="400"/>
              </a:spcAft>
              <a:defRPr sz="1100">
                <a:solidFill>
                  <a:srgbClr val="212529"/>
                </a:solidFill>
              </a:defRPr>
            </a:pPr>
            <a:r>
              <a:t>•   • Median imputation (robust to outliers).</a:t>
            </a:r>
          </a:p>
          <a:p>
            <a:pPr>
              <a:spcAft>
                <a:spcPts val="400"/>
              </a:spcAft>
              <a:defRPr sz="1100">
                <a:solidFill>
                  <a:srgbClr val="212529"/>
                </a:solidFill>
              </a:defRPr>
            </a:pPr>
            <a:r>
              <a:t>•   • StandardScaler (zero mean, unit variance).</a:t>
            </a:r>
          </a:p>
          <a:p>
            <a:pPr>
              <a:spcAft>
                <a:spcPts val="400"/>
              </a:spcAft>
              <a:defRPr sz="1100">
                <a:solidFill>
                  <a:srgbClr val="212529"/>
                </a:solidFill>
              </a:defRPr>
            </a:pPr>
            <a:r>
              <a:t>• Categorical Pipeline (7 Features):</a:t>
            </a:r>
          </a:p>
          <a:p>
            <a:pPr>
              <a:spcAft>
                <a:spcPts val="400"/>
              </a:spcAft>
              <a:defRPr sz="1100">
                <a:solidFill>
                  <a:srgbClr val="212529"/>
                </a:solidFill>
              </a:defRPr>
            </a:pPr>
            <a:r>
              <a:t>•   • Mode imputation for missing values.</a:t>
            </a:r>
          </a:p>
          <a:p>
            <a:pPr>
              <a:spcAft>
                <a:spcPts val="400"/>
              </a:spcAft>
              <a:defRPr sz="1100">
                <a:solidFill>
                  <a:srgbClr val="212529"/>
                </a:solidFill>
              </a:defRPr>
            </a:pPr>
            <a:r>
              <a:t>•   • OneHotEncoder with handle_unknown='ignore' and drop='first'.</a:t>
            </a:r>
          </a:p>
          <a:p>
            <a:pPr>
              <a:spcAft>
                <a:spcPts val="400"/>
              </a:spcAft>
              <a:defRPr sz="1100">
                <a:solidFill>
                  <a:srgbClr val="212529"/>
                </a:solidFill>
              </a:defRPr>
            </a:pPr>
            <a:r>
              <a:t>• ColumnTransformer packaging.</a:t>
            </a:r>
          </a:p>
        </p:txBody>
      </p:sp>
      <p:sp>
        <p:nvSpPr>
          <p:cNvPr id="6" name="Rounded Rectangle 5"/>
          <p:cNvSpPr/>
          <p:nvPr/>
        </p:nvSpPr>
        <p:spPr>
          <a:xfrm>
            <a:off x="8046720" y="1645920"/>
            <a:ext cx="3383280" cy="4572000"/>
          </a:xfrm>
          <a:prstGeom prst="roundRect">
            <a:avLst/>
          </a:prstGeom>
          <a:solidFill>
            <a:srgbClr val="F5F7FA"/>
          </a:solidFill>
          <a:ln w="12700">
            <a:solidFill>
              <a:srgbClr val="DCE0E6"/>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82880" bIns="182880"/>
          <a:lstStyle/>
          <a:p>
            <a:pPr algn="ctr">
              <a:spcAft>
                <a:spcPts val="800"/>
              </a:spcAft>
              <a:defRPr sz="1400" b="1">
                <a:solidFill>
                  <a:srgbClr val="1A2B4C"/>
                </a:solidFill>
              </a:defRPr>
            </a:pPr>
            <a:r>
              <a:t>Candidate Algorithms</a:t>
            </a:r>
          </a:p>
          <a:p>
            <a:pPr>
              <a:spcAft>
                <a:spcPts val="400"/>
              </a:spcAft>
              <a:defRPr sz="1100">
                <a:solidFill>
                  <a:srgbClr val="212529"/>
                </a:solidFill>
              </a:defRPr>
            </a:pPr>
            <a:r>
              <a:t>• Model 1: Logistic Regression</a:t>
            </a:r>
          </a:p>
          <a:p>
            <a:pPr>
              <a:spcAft>
                <a:spcPts val="400"/>
              </a:spcAft>
              <a:defRPr sz="1100">
                <a:solidFill>
                  <a:srgbClr val="212529"/>
                </a:solidFill>
              </a:defRPr>
            </a:pPr>
            <a:r>
              <a:t>•   • Linear classifier with L2 regularization.</a:t>
            </a:r>
          </a:p>
          <a:p>
            <a:pPr>
              <a:spcAft>
                <a:spcPts val="400"/>
              </a:spcAft>
              <a:defRPr sz="1100">
                <a:solidFill>
                  <a:srgbClr val="212529"/>
                </a:solidFill>
              </a:defRPr>
            </a:pPr>
            <a:r>
              <a:t>•   • class_weight='balanced' to handle class proportions.</a:t>
            </a:r>
          </a:p>
          <a:p>
            <a:pPr>
              <a:spcAft>
                <a:spcPts val="400"/>
              </a:spcAft>
              <a:defRPr sz="1100">
                <a:solidFill>
                  <a:srgbClr val="212529"/>
                </a:solidFill>
              </a:defRPr>
            </a:pPr>
            <a:r>
              <a:t>•   • Provides interpretable odds ratios for regulatory compliance.</a:t>
            </a:r>
          </a:p>
          <a:p>
            <a:pPr>
              <a:spcAft>
                <a:spcPts val="400"/>
              </a:spcAft>
              <a:defRPr sz="1100">
                <a:solidFill>
                  <a:srgbClr val="212529"/>
                </a:solidFill>
              </a:defRPr>
            </a:pPr>
            <a:r>
              <a:t>• Model 2: Random Forest Classifier</a:t>
            </a:r>
          </a:p>
          <a:p>
            <a:pPr>
              <a:spcAft>
                <a:spcPts val="400"/>
              </a:spcAft>
              <a:defRPr sz="1100">
                <a:solidFill>
                  <a:srgbClr val="212529"/>
                </a:solidFill>
              </a:defRPr>
            </a:pPr>
            <a:r>
              <a:t>•   • 100 trees, max_depth=5, min_samples_split=10.</a:t>
            </a:r>
          </a:p>
          <a:p>
            <a:pPr>
              <a:spcAft>
                <a:spcPts val="400"/>
              </a:spcAft>
              <a:defRPr sz="1100">
                <a:solidFill>
                  <a:srgbClr val="212529"/>
                </a:solidFill>
              </a:defRPr>
            </a:pPr>
            <a:r>
              <a:t>•   • class_weight='balanced'.</a:t>
            </a:r>
          </a:p>
          <a:p>
            <a:pPr>
              <a:spcAft>
                <a:spcPts val="400"/>
              </a:spcAft>
              <a:defRPr sz="1100">
                <a:solidFill>
                  <a:srgbClr val="212529"/>
                </a:solidFill>
              </a:defRPr>
            </a:pPr>
            <a:r>
              <a:t>•   • Captures non-linear thresholds and interactions without overfitting.</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515600" cy="320040"/>
          </a:xfrm>
          <a:prstGeom prst="rect">
            <a:avLst/>
          </a:prstGeom>
          <a:noFill/>
        </p:spPr>
        <p:txBody>
          <a:bodyPr wrap="square">
            <a:spAutoFit/>
          </a:bodyPr>
          <a:lstStyle/>
          <a:p>
            <a:pPr>
              <a:defRPr sz="1000" b="1">
                <a:solidFill>
                  <a:srgbClr val="788291"/>
                </a:solidFill>
              </a:defRPr>
            </a:pPr>
            <a:r>
              <a:t>TAPLEND INDIA • CREDIT RISK ASSESSMENT</a:t>
            </a:r>
          </a:p>
        </p:txBody>
      </p:sp>
      <p:sp>
        <p:nvSpPr>
          <p:cNvPr id="3" name="TextBox 2"/>
          <p:cNvSpPr txBox="1"/>
          <p:nvPr/>
        </p:nvSpPr>
        <p:spPr>
          <a:xfrm>
            <a:off x="731520" y="640080"/>
            <a:ext cx="10515600" cy="731520"/>
          </a:xfrm>
          <a:prstGeom prst="rect">
            <a:avLst/>
          </a:prstGeom>
          <a:noFill/>
        </p:spPr>
        <p:txBody>
          <a:bodyPr wrap="square">
            <a:spAutoFit/>
          </a:bodyPr>
          <a:lstStyle/>
          <a:p>
            <a:pPr>
              <a:defRPr sz="2200" b="1">
                <a:solidFill>
                  <a:srgbClr val="1A2B4C"/>
                </a:solidFill>
              </a:defRPr>
            </a:pPr>
            <a:r>
              <a:t>Model Evaluation &amp; Out-of-Sample Benchmarks (Excl. Age)</a:t>
            </a:r>
          </a:p>
        </p:txBody>
      </p:sp>
      <p:sp>
        <p:nvSpPr>
          <p:cNvPr id="4" name="Rounded Rectangle 3"/>
          <p:cNvSpPr/>
          <p:nvPr/>
        </p:nvSpPr>
        <p:spPr>
          <a:xfrm>
            <a:off x="731520" y="1645920"/>
            <a:ext cx="5120640" cy="4572000"/>
          </a:xfrm>
          <a:prstGeom prst="roundRect">
            <a:avLst/>
          </a:prstGeom>
          <a:solidFill>
            <a:srgbClr val="F5F7FA"/>
          </a:solidFill>
          <a:ln w="12700">
            <a:solidFill>
              <a:srgbClr val="DCE0E6"/>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82880" bIns="182880"/>
          <a:lstStyle/>
          <a:p>
            <a:pPr algn="ctr">
              <a:spcAft>
                <a:spcPts val="800"/>
              </a:spcAft>
              <a:defRPr sz="1400" b="1">
                <a:solidFill>
                  <a:srgbClr val="1A2B4C"/>
                </a:solidFill>
              </a:defRPr>
            </a:pPr>
            <a:r>
              <a:t>Model Evaluation (Holdout Test N = 133)</a:t>
            </a:r>
          </a:p>
          <a:p>
            <a:pPr>
              <a:spcAft>
                <a:spcPts val="400"/>
              </a:spcAft>
              <a:defRPr sz="1100">
                <a:solidFill>
                  <a:srgbClr val="212529"/>
                </a:solidFill>
              </a:defRPr>
            </a:pPr>
            <a:r>
              <a:t>• Target Definition: Positive Class = Bad Loan (Default Event = 1).</a:t>
            </a:r>
          </a:p>
          <a:p>
            <a:pPr>
              <a:spcAft>
                <a:spcPts val="400"/>
              </a:spcAft>
              <a:defRPr sz="1100">
                <a:solidFill>
                  <a:srgbClr val="212529"/>
                </a:solidFill>
              </a:defRPr>
            </a:pPr>
            <a:r>
              <a:t>• Model Comparison Table (Excluding Age):</a:t>
            </a:r>
          </a:p>
          <a:p>
            <a:pPr>
              <a:spcAft>
                <a:spcPts val="400"/>
              </a:spcAft>
              <a:defRPr sz="1100">
                <a:solidFill>
                  <a:srgbClr val="212529"/>
                </a:solidFill>
              </a:defRPr>
            </a:pPr>
            <a:r>
              <a:t>•   • Random Forest: Accuracy = 62.41%, ROC-AUC = 0.6313</a:t>
            </a:r>
          </a:p>
          <a:p>
            <a:pPr>
              <a:spcAft>
                <a:spcPts val="400"/>
              </a:spcAft>
              <a:defRPr sz="1100">
                <a:solidFill>
                  <a:srgbClr val="212529"/>
                </a:solidFill>
              </a:defRPr>
            </a:pPr>
            <a:r>
              <a:t>•     - Bad Precision = 62.65%, Bad Recall = 73.24%, Bad F1 = 0.6753</a:t>
            </a:r>
          </a:p>
          <a:p>
            <a:pPr>
              <a:spcAft>
                <a:spcPts val="400"/>
              </a:spcAft>
              <a:defRPr sz="1100">
                <a:solidFill>
                  <a:srgbClr val="212529"/>
                </a:solidFill>
              </a:defRPr>
            </a:pPr>
            <a:r>
              <a:t>•     - Good Precision = 62.00%, Good Recall = 50.00%, Good F1 = 0.5536</a:t>
            </a:r>
          </a:p>
          <a:p>
            <a:pPr>
              <a:spcAft>
                <a:spcPts val="400"/>
              </a:spcAft>
              <a:defRPr sz="1100">
                <a:solidFill>
                  <a:srgbClr val="212529"/>
                </a:solidFill>
              </a:defRPr>
            </a:pPr>
            <a:r>
              <a:t>•   • Logistic Regression: Accuracy = 53.38%, ROC-AUC = 0.5461</a:t>
            </a:r>
          </a:p>
          <a:p>
            <a:pPr>
              <a:spcAft>
                <a:spcPts val="400"/>
              </a:spcAft>
              <a:defRPr sz="1100">
                <a:solidFill>
                  <a:srgbClr val="212529"/>
                </a:solidFill>
              </a:defRPr>
            </a:pPr>
            <a:r>
              <a:t>•     - Bad Precision = 56.00%, Bad Recall = 59.15%, Bad F1 = 0.5753</a:t>
            </a:r>
          </a:p>
          <a:p>
            <a:pPr>
              <a:spcAft>
                <a:spcPts val="400"/>
              </a:spcAft>
              <a:defRPr sz="1100">
                <a:solidFill>
                  <a:srgbClr val="212529"/>
                </a:solidFill>
              </a:defRPr>
            </a:pPr>
            <a:r>
              <a:t>• Key Model Evaluation Takeaways:</a:t>
            </a:r>
          </a:p>
          <a:p>
            <a:pPr>
              <a:spcAft>
                <a:spcPts val="400"/>
              </a:spcAft>
              <a:defRPr sz="1100">
                <a:solidFill>
                  <a:srgbClr val="212529"/>
                </a:solidFill>
              </a:defRPr>
            </a:pPr>
            <a:r>
              <a:t>•   • Random Forest achieved 73.2% recall on defaults, successfully identifying 52 out of 71 defaults in the holdout test set.</a:t>
            </a:r>
          </a:p>
          <a:p>
            <a:pPr>
              <a:spcAft>
                <a:spcPts val="400"/>
              </a:spcAft>
              <a:defRPr sz="1100">
                <a:solidFill>
                  <a:srgbClr val="212529"/>
                </a:solidFill>
              </a:defRPr>
            </a:pPr>
            <a:r>
              <a:t>•   • Overall discrimination is moderate (~0.63 AUC), reflecting sample size and the absence of verified debt obligations.</a:t>
            </a:r>
          </a:p>
          <a:p>
            <a:pPr>
              <a:spcAft>
                <a:spcPts val="400"/>
              </a:spcAft>
              <a:defRPr sz="1100">
                <a:solidFill>
                  <a:srgbClr val="212529"/>
                </a:solidFill>
              </a:defRPr>
            </a:pPr>
            <a:r>
              <a:t>•   • Random Forest consistently out-performed linear Logistic Regression.</a:t>
            </a:r>
          </a:p>
        </p:txBody>
      </p:sp>
      <p:pic>
        <p:nvPicPr>
          <p:cNvPr id="5" name="Picture 4" descr="confusion_matrices.png"/>
          <p:cNvPicPr>
            <a:picLocks noChangeAspect="1"/>
          </p:cNvPicPr>
          <p:nvPr/>
        </p:nvPicPr>
        <p:blipFill>
          <a:blip r:embed="rId2"/>
          <a:stretch>
            <a:fillRect/>
          </a:stretch>
        </p:blipFill>
        <p:spPr>
          <a:xfrm>
            <a:off x="6217920" y="1645920"/>
            <a:ext cx="5212080" cy="4572000"/>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515600" cy="320040"/>
          </a:xfrm>
          <a:prstGeom prst="rect">
            <a:avLst/>
          </a:prstGeom>
          <a:noFill/>
        </p:spPr>
        <p:txBody>
          <a:bodyPr wrap="square">
            <a:spAutoFit/>
          </a:bodyPr>
          <a:lstStyle/>
          <a:p>
            <a:pPr>
              <a:defRPr sz="1000" b="1">
                <a:solidFill>
                  <a:srgbClr val="788291"/>
                </a:solidFill>
              </a:defRPr>
            </a:pPr>
            <a:r>
              <a:t>TAPLEND INDIA • CREDIT RISK ASSESSMENT</a:t>
            </a:r>
          </a:p>
        </p:txBody>
      </p:sp>
      <p:sp>
        <p:nvSpPr>
          <p:cNvPr id="3" name="TextBox 2"/>
          <p:cNvSpPr txBox="1"/>
          <p:nvPr/>
        </p:nvSpPr>
        <p:spPr>
          <a:xfrm>
            <a:off x="731520" y="640080"/>
            <a:ext cx="10515600" cy="731520"/>
          </a:xfrm>
          <a:prstGeom prst="rect">
            <a:avLst/>
          </a:prstGeom>
          <a:noFill/>
        </p:spPr>
        <p:txBody>
          <a:bodyPr wrap="square">
            <a:spAutoFit/>
          </a:bodyPr>
          <a:lstStyle/>
          <a:p>
            <a:pPr>
              <a:defRPr sz="2200" b="1">
                <a:solidFill>
                  <a:srgbClr val="1A2B4C"/>
                </a:solidFill>
              </a:defRPr>
            </a:pPr>
            <a:r>
              <a:t>Leak-Free Decision Thresholds &amp; Illustrative Trade-Offs</a:t>
            </a:r>
          </a:p>
        </p:txBody>
      </p:sp>
      <p:sp>
        <p:nvSpPr>
          <p:cNvPr id="4" name="Rounded Rectangle 3"/>
          <p:cNvSpPr/>
          <p:nvPr/>
        </p:nvSpPr>
        <p:spPr>
          <a:xfrm>
            <a:off x="731520" y="1645920"/>
            <a:ext cx="5120640" cy="4572000"/>
          </a:xfrm>
          <a:prstGeom prst="roundRect">
            <a:avLst/>
          </a:prstGeom>
          <a:solidFill>
            <a:srgbClr val="F5F7FA"/>
          </a:solidFill>
          <a:ln w="12700">
            <a:solidFill>
              <a:srgbClr val="DCE0E6"/>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82880" bIns="182880"/>
          <a:lstStyle/>
          <a:p>
            <a:pPr algn="ctr">
              <a:spcAft>
                <a:spcPts val="800"/>
              </a:spcAft>
              <a:defRPr sz="1400" b="1">
                <a:solidFill>
                  <a:srgbClr val="1A2B4C"/>
                </a:solidFill>
              </a:defRPr>
            </a:pPr>
            <a:r>
              <a:t>Corrected Threshold Methodology</a:t>
            </a:r>
          </a:p>
          <a:p>
            <a:pPr>
              <a:spcAft>
                <a:spcPts val="400"/>
              </a:spcAft>
              <a:defRPr sz="1100">
                <a:solidFill>
                  <a:srgbClr val="212529"/>
                </a:solidFill>
              </a:defRPr>
            </a:pPr>
            <a:r>
              <a:t>• Leak-Free Selection Protocol:</a:t>
            </a:r>
          </a:p>
          <a:p>
            <a:pPr>
              <a:spcAft>
                <a:spcPts val="400"/>
              </a:spcAft>
              <a:defRPr sz="1100">
                <a:solidFill>
                  <a:srgbClr val="212529"/>
                </a:solidFill>
              </a:defRPr>
            </a:pPr>
            <a:r>
              <a:t>•   • Threshold selected strictly on Training Data via 5-fold GroupKFold cross-validation.</a:t>
            </a:r>
          </a:p>
          <a:p>
            <a:pPr>
              <a:spcAft>
                <a:spcPts val="400"/>
              </a:spcAft>
              <a:defRPr sz="1100">
                <a:solidFill>
                  <a:srgbClr val="212529"/>
                </a:solidFill>
              </a:defRPr>
            </a:pPr>
            <a:r>
              <a:t>•   • Optimal Training Threshold: T* = 0.30.</a:t>
            </a:r>
          </a:p>
          <a:p>
            <a:pPr>
              <a:spcAft>
                <a:spcPts val="400"/>
              </a:spcAft>
              <a:defRPr sz="1100">
                <a:solidFill>
                  <a:srgbClr val="212529"/>
                </a:solidFill>
              </a:defRPr>
            </a:pPr>
            <a:r>
              <a:t>• Evaluation on Untouched Holdout Test Set (N = 133):</a:t>
            </a:r>
          </a:p>
          <a:p>
            <a:pPr>
              <a:spcAft>
                <a:spcPts val="400"/>
              </a:spcAft>
              <a:defRPr sz="1100">
                <a:solidFill>
                  <a:srgbClr val="212529"/>
                </a:solidFill>
              </a:defRPr>
            </a:pPr>
            <a:r>
              <a:t>•   • Default 0.50 Cutoff Loss: $14,150 (FN = 19, FP = 31).</a:t>
            </a:r>
          </a:p>
          <a:p>
            <a:pPr>
              <a:spcAft>
                <a:spcPts val="400"/>
              </a:spcAft>
              <a:defRPr sz="1100">
                <a:solidFill>
                  <a:srgbClr val="212529"/>
                </a:solidFill>
              </a:defRPr>
            </a:pPr>
            <a:r>
              <a:t>•   • Selected 0.30 Cutoff Loss: $9,650 (FN = 2, FP = 59).</a:t>
            </a:r>
          </a:p>
          <a:p>
            <a:pPr>
              <a:spcAft>
                <a:spcPts val="400"/>
              </a:spcAft>
              <a:defRPr sz="1100">
                <a:solidFill>
                  <a:srgbClr val="212529"/>
                </a:solidFill>
              </a:defRPr>
            </a:pPr>
            <a:r>
              <a:t>•   • Difference: $4,500 reduction under illustrative assumptions.</a:t>
            </a:r>
          </a:p>
          <a:p>
            <a:pPr>
              <a:spcAft>
                <a:spcPts val="400"/>
              </a:spcAft>
              <a:defRPr sz="1100">
                <a:solidFill>
                  <a:srgbClr val="212529"/>
                </a:solidFill>
              </a:defRPr>
            </a:pPr>
            <a:r>
              <a:t>• The Volume vs. Risk Trade-Off:</a:t>
            </a:r>
          </a:p>
          <a:p>
            <a:pPr>
              <a:spcAft>
                <a:spcPts val="400"/>
              </a:spcAft>
              <a:defRPr sz="1100">
                <a:solidFill>
                  <a:srgbClr val="212529"/>
                </a:solidFill>
              </a:defRPr>
            </a:pPr>
            <a:r>
              <a:t>•   • While lowering T to 0.30 catches nearly all defaults (FN drops from 19 to 2), it rejects 59 out of 62 good borrowers (FP increases from 31 to 59).</a:t>
            </a:r>
          </a:p>
          <a:p>
            <a:pPr>
              <a:spcAft>
                <a:spcPts val="400"/>
              </a:spcAft>
              <a:defRPr sz="1100">
                <a:solidFill>
                  <a:srgbClr val="212529"/>
                </a:solidFill>
              </a:defRPr>
            </a:pPr>
            <a:r>
              <a:t>•   • Approval volume collapses! Real businesses must impose approval volume constraints.</a:t>
            </a:r>
          </a:p>
          <a:p>
            <a:pPr>
              <a:spcAft>
                <a:spcPts val="400"/>
              </a:spcAft>
              <a:defRPr sz="1100">
                <a:solidFill>
                  <a:srgbClr val="212529"/>
                </a:solidFill>
              </a:defRPr>
            </a:pPr>
            <a:r>
              <a:t>• Sample-Size Limitation: In a test set of 133 loans, threshold tuning is sensitive to small sample noise.</a:t>
            </a:r>
          </a:p>
        </p:txBody>
      </p:sp>
      <p:pic>
        <p:nvPicPr>
          <p:cNvPr id="5" name="Picture 4" descr="financial_tradeoff_curve.png"/>
          <p:cNvPicPr>
            <a:picLocks noChangeAspect="1"/>
          </p:cNvPicPr>
          <p:nvPr/>
        </p:nvPicPr>
        <p:blipFill>
          <a:blip r:embed="rId2"/>
          <a:stretch>
            <a:fillRect/>
          </a:stretch>
        </p:blipFill>
        <p:spPr>
          <a:xfrm>
            <a:off x="6217920" y="1645920"/>
            <a:ext cx="5212080" cy="4572000"/>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515600" cy="320040"/>
          </a:xfrm>
          <a:prstGeom prst="rect">
            <a:avLst/>
          </a:prstGeom>
          <a:noFill/>
        </p:spPr>
        <p:txBody>
          <a:bodyPr wrap="square">
            <a:spAutoFit/>
          </a:bodyPr>
          <a:lstStyle/>
          <a:p>
            <a:pPr>
              <a:defRPr sz="1000" b="1">
                <a:solidFill>
                  <a:srgbClr val="788291"/>
                </a:solidFill>
              </a:defRPr>
            </a:pPr>
            <a:r>
              <a:t>TAPLEND INDIA • CREDIT RISK ASSESSMENT</a:t>
            </a:r>
          </a:p>
        </p:txBody>
      </p:sp>
      <p:sp>
        <p:nvSpPr>
          <p:cNvPr id="3" name="TextBox 2"/>
          <p:cNvSpPr txBox="1"/>
          <p:nvPr/>
        </p:nvSpPr>
        <p:spPr>
          <a:xfrm>
            <a:off x="731520" y="640080"/>
            <a:ext cx="10515600" cy="731520"/>
          </a:xfrm>
          <a:prstGeom prst="rect">
            <a:avLst/>
          </a:prstGeom>
          <a:noFill/>
        </p:spPr>
        <p:txBody>
          <a:bodyPr wrap="square">
            <a:spAutoFit/>
          </a:bodyPr>
          <a:lstStyle/>
          <a:p>
            <a:pPr>
              <a:defRPr sz="2200" b="1">
                <a:solidFill>
                  <a:srgbClr val="1A2B4C"/>
                </a:solidFill>
              </a:defRPr>
            </a:pPr>
            <a:r>
              <a:t>Portfolio Limitations &amp; Data Governance Risks</a:t>
            </a:r>
          </a:p>
        </p:txBody>
      </p:sp>
      <p:sp>
        <p:nvSpPr>
          <p:cNvPr id="4" name="Rounded Rectangle 3"/>
          <p:cNvSpPr/>
          <p:nvPr/>
        </p:nvSpPr>
        <p:spPr>
          <a:xfrm>
            <a:off x="731520" y="1645920"/>
            <a:ext cx="3291840" cy="4572000"/>
          </a:xfrm>
          <a:prstGeom prst="roundRect">
            <a:avLst/>
          </a:prstGeom>
          <a:solidFill>
            <a:srgbClr val="F5F7FA"/>
          </a:solidFill>
          <a:ln w="12700">
            <a:solidFill>
              <a:srgbClr val="DCE0E6"/>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82880" bIns="182880"/>
          <a:lstStyle/>
          <a:p>
            <a:pPr algn="ctr">
              <a:spcAft>
                <a:spcPts val="800"/>
              </a:spcAft>
              <a:defRPr sz="1400" b="1">
                <a:solidFill>
                  <a:srgbClr val="1A2B4C"/>
                </a:solidFill>
              </a:defRPr>
            </a:pPr>
            <a:r>
              <a:t>1. Selection Bias</a:t>
            </a:r>
          </a:p>
          <a:p>
            <a:pPr>
              <a:spcAft>
                <a:spcPts val="400"/>
              </a:spcAft>
              <a:defRPr sz="1100">
                <a:solidFill>
                  <a:srgbClr val="212529"/>
                </a:solidFill>
              </a:defRPr>
            </a:pPr>
            <a:r>
              <a:t>• 100% Approved Applications: Data contains zero rejected applicants.</a:t>
            </a:r>
          </a:p>
          <a:p>
            <a:pPr>
              <a:spcAft>
                <a:spcPts val="400"/>
              </a:spcAft>
              <a:defRPr sz="1100">
                <a:solidFill>
                  <a:srgbClr val="212529"/>
                </a:solidFill>
              </a:defRPr>
            </a:pPr>
            <a:r>
              <a:t>• Survivor Bias: We cannot observe repayment behavior for denied applicants.</a:t>
            </a:r>
          </a:p>
          <a:p>
            <a:pPr>
              <a:spcAft>
                <a:spcPts val="400"/>
              </a:spcAft>
              <a:defRPr sz="1100">
                <a:solidFill>
                  <a:srgbClr val="212529"/>
                </a:solidFill>
              </a:defRPr>
            </a:pPr>
            <a:r>
              <a:t>• Model Distortion: Scoring models trained only on approved loans degrade on general applicant flow.</a:t>
            </a:r>
          </a:p>
          <a:p>
            <a:pPr>
              <a:spcAft>
                <a:spcPts val="400"/>
              </a:spcAft>
              <a:defRPr sz="1100">
                <a:solidFill>
                  <a:srgbClr val="212529"/>
                </a:solidFill>
              </a:defRPr>
            </a:pPr>
            <a:r>
              <a:t>• Remediation: Reject inference modeling or randomized control tranches.</a:t>
            </a:r>
          </a:p>
        </p:txBody>
      </p:sp>
      <p:sp>
        <p:nvSpPr>
          <p:cNvPr id="5" name="Rounded Rectangle 4"/>
          <p:cNvSpPr/>
          <p:nvPr/>
        </p:nvSpPr>
        <p:spPr>
          <a:xfrm>
            <a:off x="4389120" y="1645920"/>
            <a:ext cx="3291840" cy="4572000"/>
          </a:xfrm>
          <a:prstGeom prst="roundRect">
            <a:avLst/>
          </a:prstGeom>
          <a:solidFill>
            <a:srgbClr val="F5F7FA"/>
          </a:solidFill>
          <a:ln w="12700">
            <a:solidFill>
              <a:srgbClr val="DCE0E6"/>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82880" bIns="182880"/>
          <a:lstStyle/>
          <a:p>
            <a:pPr algn="ctr">
              <a:spcAft>
                <a:spcPts val="800"/>
              </a:spcAft>
              <a:defRPr sz="1400" b="1">
                <a:solidFill>
                  <a:srgbClr val="1A2B4C"/>
                </a:solidFill>
              </a:defRPr>
            </a:pPr>
            <a:r>
              <a:t>2. Missing Portfolio Half</a:t>
            </a:r>
          </a:p>
          <a:p>
            <a:pPr>
              <a:spcAft>
                <a:spcPts val="400"/>
              </a:spcAft>
              <a:defRPr sz="1100">
                <a:solidFill>
                  <a:srgbClr val="212529"/>
                </a:solidFill>
              </a:defRPr>
            </a:pPr>
            <a:r>
              <a:t>• 628 Loans Lack Application Records: Nearly half of all loans cannot be joined.</a:t>
            </a:r>
          </a:p>
          <a:p>
            <a:pPr>
              <a:spcAft>
                <a:spcPts val="400"/>
              </a:spcAft>
              <a:defRPr sz="1100">
                <a:solidFill>
                  <a:srgbClr val="212529"/>
                </a:solidFill>
              </a:defRPr>
            </a:pPr>
            <a:r>
              <a:t>• Non-Random Missingness (MNAR): Unmatched loans default at 25.6% vs. 54.0% for matched loans.</a:t>
            </a:r>
          </a:p>
          <a:p>
            <a:pPr>
              <a:spcAft>
                <a:spcPts val="400"/>
              </a:spcAft>
              <a:defRPr sz="1100">
                <a:solidFill>
                  <a:srgbClr val="212529"/>
                </a:solidFill>
              </a:defRPr>
            </a:pPr>
            <a:r>
              <a:t>• Set-Difference Proof: Prefixes do not exist anywhere in Application Data.</a:t>
            </a:r>
          </a:p>
          <a:p>
            <a:pPr>
              <a:spcAft>
                <a:spcPts val="400"/>
              </a:spcAft>
              <a:defRPr sz="1100">
                <a:solidFill>
                  <a:srgbClr val="212529"/>
                </a:solidFill>
              </a:defRPr>
            </a:pPr>
            <a:r>
              <a:t>• Remediation: Ingestion pipeline reconciliation before production deployment.</a:t>
            </a:r>
          </a:p>
        </p:txBody>
      </p:sp>
      <p:sp>
        <p:nvSpPr>
          <p:cNvPr id="6" name="Rounded Rectangle 5"/>
          <p:cNvSpPr/>
          <p:nvPr/>
        </p:nvSpPr>
        <p:spPr>
          <a:xfrm>
            <a:off x="8046720" y="1645920"/>
            <a:ext cx="3383280" cy="4572000"/>
          </a:xfrm>
          <a:prstGeom prst="roundRect">
            <a:avLst/>
          </a:prstGeom>
          <a:solidFill>
            <a:srgbClr val="F5F7FA"/>
          </a:solidFill>
          <a:ln w="12700">
            <a:solidFill>
              <a:srgbClr val="DCE0E6"/>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82880" bIns="182880"/>
          <a:lstStyle/>
          <a:p>
            <a:pPr algn="ctr">
              <a:spcAft>
                <a:spcPts val="800"/>
              </a:spcAft>
              <a:defRPr sz="1400" b="1">
                <a:solidFill>
                  <a:srgbClr val="1A2B4C"/>
                </a:solidFill>
              </a:defRPr>
            </a:pPr>
            <a:r>
              <a:t>3. Data Quality &amp; Fairness</a:t>
            </a:r>
          </a:p>
          <a:p>
            <a:pPr>
              <a:spcAft>
                <a:spcPts val="400"/>
              </a:spcAft>
              <a:defRPr sz="1100">
                <a:solidFill>
                  <a:srgbClr val="212529"/>
                </a:solidFill>
              </a:defRPr>
            </a:pPr>
            <a:r>
              <a:t>• Excel Identifier Corruption: Hex hashes coerced to scientific floats and stripped zeros.</a:t>
            </a:r>
          </a:p>
          <a:p>
            <a:pPr>
              <a:spcAft>
                <a:spcPts val="400"/>
              </a:spcAft>
              <a:defRPr sz="1100">
                <a:solidFill>
                  <a:srgbClr val="212529"/>
                </a:solidFill>
              </a:defRPr>
            </a:pPr>
            <a:r>
              <a:t>• Omitted Variable Bias: Missing verified Debt-to-Income (DTI) and active debt tradelines.</a:t>
            </a:r>
          </a:p>
          <a:p>
            <a:pPr>
              <a:spcAft>
                <a:spcPts val="400"/>
              </a:spcAft>
              <a:defRPr sz="1100">
                <a:solidFill>
                  <a:srgbClr val="212529"/>
                </a:solidFill>
              </a:defRPr>
            </a:pPr>
            <a:r>
              <a:t>• Regulatory Fair Lending: Proxy risk persists even after removing age; formal disparate impact audits required.</a:t>
            </a:r>
          </a:p>
          <a:p>
            <a:pPr>
              <a:spcAft>
                <a:spcPts val="400"/>
              </a:spcAft>
              <a:defRPr sz="1100">
                <a:solidFill>
                  <a:srgbClr val="212529"/>
                </a:solidFill>
              </a:defRPr>
            </a:pPr>
            <a:r>
              <a:t>• Sample Size: N = 657 is too small for automated underwriting.</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515600" cy="320040"/>
          </a:xfrm>
          <a:prstGeom prst="rect">
            <a:avLst/>
          </a:prstGeom>
          <a:noFill/>
        </p:spPr>
        <p:txBody>
          <a:bodyPr wrap="square">
            <a:spAutoFit/>
          </a:bodyPr>
          <a:lstStyle/>
          <a:p>
            <a:pPr>
              <a:defRPr sz="1000" b="1">
                <a:solidFill>
                  <a:srgbClr val="788291"/>
                </a:solidFill>
              </a:defRPr>
            </a:pPr>
            <a:r>
              <a:t>TAPLEND INDIA • CREDIT RISK ASSESSMENT</a:t>
            </a:r>
          </a:p>
        </p:txBody>
      </p:sp>
      <p:sp>
        <p:nvSpPr>
          <p:cNvPr id="3" name="TextBox 2"/>
          <p:cNvSpPr txBox="1"/>
          <p:nvPr/>
        </p:nvSpPr>
        <p:spPr>
          <a:xfrm>
            <a:off x="731520" y="640080"/>
            <a:ext cx="10515600" cy="731520"/>
          </a:xfrm>
          <a:prstGeom prst="rect">
            <a:avLst/>
          </a:prstGeom>
          <a:noFill/>
        </p:spPr>
        <p:txBody>
          <a:bodyPr wrap="square">
            <a:spAutoFit/>
          </a:bodyPr>
          <a:lstStyle/>
          <a:p>
            <a:pPr>
              <a:defRPr sz="2200" b="1">
                <a:solidFill>
                  <a:srgbClr val="1A2B4C"/>
                </a:solidFill>
              </a:defRPr>
            </a:pPr>
            <a:r>
              <a:t>Actionable &amp; Evidence-Based Recommendations</a:t>
            </a:r>
          </a:p>
        </p:txBody>
      </p:sp>
      <p:sp>
        <p:nvSpPr>
          <p:cNvPr id="4" name="Rounded Rectangle 3"/>
          <p:cNvSpPr/>
          <p:nvPr/>
        </p:nvSpPr>
        <p:spPr>
          <a:xfrm>
            <a:off x="731520" y="1645920"/>
            <a:ext cx="3291840" cy="4572000"/>
          </a:xfrm>
          <a:prstGeom prst="roundRect">
            <a:avLst/>
          </a:prstGeom>
          <a:solidFill>
            <a:srgbClr val="F5F7FA"/>
          </a:solidFill>
          <a:ln w="12700">
            <a:solidFill>
              <a:srgbClr val="DCE0E6"/>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82880" bIns="182880"/>
          <a:lstStyle/>
          <a:p>
            <a:pPr algn="ctr">
              <a:spcAft>
                <a:spcPts val="800"/>
              </a:spcAft>
              <a:defRPr sz="1400" b="1">
                <a:solidFill>
                  <a:srgbClr val="1A2B4C"/>
                </a:solidFill>
              </a:defRPr>
            </a:pPr>
            <a:r>
              <a:t>Underwriting Policy Reviews</a:t>
            </a:r>
          </a:p>
          <a:p>
            <a:pPr>
              <a:spcAft>
                <a:spcPts val="400"/>
              </a:spcAft>
              <a:defRPr sz="1100">
                <a:solidFill>
                  <a:srgbClr val="212529"/>
                </a:solidFill>
              </a:defRPr>
            </a:pPr>
            <a:r>
              <a:t>• 1. Controlled Review of Weekly Repayments: Weekly schedule borrowers defaulted at 81.5% (n=27). Audit borrower cash-flow cycles and pilot stricter terms (association ≠ causation).</a:t>
            </a:r>
          </a:p>
          <a:p>
            <a:pPr>
              <a:spcAft>
                <a:spcPts val="400"/>
              </a:spcAft>
              <a:defRPr sz="1100">
                <a:solidFill>
                  <a:srgbClr val="212529"/>
                </a:solidFill>
              </a:defRPr>
            </a:pPr>
            <a:r>
              <a:t>• 2. Simulate Bureau Floors: Bureau scores show strong risk separation. Evaluate volume vs. default trade-offs for cutoffs (e.g. FICO Retail ≥ 580) on broader data.</a:t>
            </a:r>
          </a:p>
          <a:p>
            <a:pPr>
              <a:spcAft>
                <a:spcPts val="400"/>
              </a:spcAft>
              <a:defRPr sz="1100">
                <a:solidFill>
                  <a:srgbClr val="212529"/>
                </a:solidFill>
              </a:defRPr>
            </a:pPr>
            <a:r>
              <a:t>• 3. Validate Repeat Borrower Dynamics: 18.8% default rate on loan -02 is encouraging, but reflects survivorship in a sample of 16. Validate on broader cohorts before creating VIP programs.</a:t>
            </a:r>
          </a:p>
        </p:txBody>
      </p:sp>
      <p:sp>
        <p:nvSpPr>
          <p:cNvPr id="5" name="Rounded Rectangle 4"/>
          <p:cNvSpPr/>
          <p:nvPr/>
        </p:nvSpPr>
        <p:spPr>
          <a:xfrm>
            <a:off x="4389120" y="1645920"/>
            <a:ext cx="3291840" cy="4572000"/>
          </a:xfrm>
          <a:prstGeom prst="roundRect">
            <a:avLst/>
          </a:prstGeom>
          <a:solidFill>
            <a:srgbClr val="F5F7FA"/>
          </a:solidFill>
          <a:ln w="12700">
            <a:solidFill>
              <a:srgbClr val="DCE0E6"/>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82880" bIns="182880"/>
          <a:lstStyle/>
          <a:p>
            <a:pPr algn="ctr">
              <a:spcAft>
                <a:spcPts val="800"/>
              </a:spcAft>
              <a:defRPr sz="1400" b="1">
                <a:solidFill>
                  <a:srgbClr val="1A2B4C"/>
                </a:solidFill>
              </a:defRPr>
            </a:pPr>
            <a:r>
              <a:t>Data Infrastructure Fixes</a:t>
            </a:r>
          </a:p>
          <a:p>
            <a:pPr>
              <a:spcAft>
                <a:spcPts val="400"/>
              </a:spcAft>
              <a:defRPr sz="1100">
                <a:solidFill>
                  <a:srgbClr val="212529"/>
                </a:solidFill>
              </a:defRPr>
            </a:pPr>
            <a:r>
              <a:t>• 1. Reconcile Unmatched Records: Audit origination databases to recover application profiles for the 628 unmatched loans.</a:t>
            </a:r>
          </a:p>
          <a:p>
            <a:pPr>
              <a:spcAft>
                <a:spcPts val="400"/>
              </a:spcAft>
              <a:defRPr sz="1100">
                <a:solidFill>
                  <a:srgbClr val="212529"/>
                </a:solidFill>
              </a:defRPr>
            </a:pPr>
            <a:r>
              <a:t>• 2. Modernize Pipeline Hygiene: Replace manual Excel extracts with automated database pipelines (Parquet / PostgreSQL) with immutable string schemas.</a:t>
            </a:r>
          </a:p>
          <a:p>
            <a:pPr>
              <a:spcAft>
                <a:spcPts val="400"/>
              </a:spcAft>
              <a:defRPr sz="1100">
                <a:solidFill>
                  <a:srgbClr val="212529"/>
                </a:solidFill>
              </a:defRPr>
            </a:pPr>
            <a:r>
              <a:t>• 3. Log Rejected Applications: Capture and store all incoming applications—including rejections—to enable reject inference.</a:t>
            </a:r>
          </a:p>
        </p:txBody>
      </p:sp>
      <p:sp>
        <p:nvSpPr>
          <p:cNvPr id="6" name="Rounded Rectangle 5"/>
          <p:cNvSpPr/>
          <p:nvPr/>
        </p:nvSpPr>
        <p:spPr>
          <a:xfrm>
            <a:off x="8046720" y="1645920"/>
            <a:ext cx="3383280" cy="4572000"/>
          </a:xfrm>
          <a:prstGeom prst="roundRect">
            <a:avLst/>
          </a:prstGeom>
          <a:solidFill>
            <a:srgbClr val="F5F7FA"/>
          </a:solidFill>
          <a:ln w="12700">
            <a:solidFill>
              <a:srgbClr val="DCE0E6"/>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82880" bIns="182880"/>
          <a:lstStyle/>
          <a:p>
            <a:pPr algn="ctr">
              <a:spcAft>
                <a:spcPts val="800"/>
              </a:spcAft>
              <a:defRPr sz="1400" b="1">
                <a:solidFill>
                  <a:srgbClr val="1A2B4C"/>
                </a:solidFill>
              </a:defRPr>
            </a:pPr>
            <a:r>
              <a:t>Essential Next Steps</a:t>
            </a:r>
          </a:p>
          <a:p>
            <a:pPr>
              <a:spcAft>
                <a:spcPts val="400"/>
              </a:spcAft>
              <a:defRPr sz="1100">
                <a:solidFill>
                  <a:srgbClr val="212529"/>
                </a:solidFill>
              </a:defRPr>
            </a:pPr>
            <a:r>
              <a:t>• 1. Verified Debt-to-Income (DTI): Capture existing active monthly debt service to evaluate true repayment capacity.</a:t>
            </a:r>
          </a:p>
          <a:p>
            <a:pPr>
              <a:spcAft>
                <a:spcPts val="400"/>
              </a:spcAft>
              <a:defRPr sz="1100">
                <a:solidFill>
                  <a:srgbClr val="212529"/>
                </a:solidFill>
              </a:defRPr>
            </a:pPr>
            <a:r>
              <a:t>• 2. Cash-Flow Banking Analytics: Integrate Account Aggregator data (average balance, payroll regularity, overdraft frequency).</a:t>
            </a:r>
          </a:p>
          <a:p>
            <a:pPr>
              <a:spcAft>
                <a:spcPts val="400"/>
              </a:spcAft>
              <a:defRPr sz="1100">
                <a:solidFill>
                  <a:srgbClr val="212529"/>
                </a:solidFill>
              </a:defRPr>
            </a:pPr>
            <a:r>
              <a:t>• 3. Fair Lending Disparate Impact Audits: Conduct formal Disparate Impact testing across protected classes.</a:t>
            </a:r>
          </a:p>
          <a:p>
            <a:pPr>
              <a:spcAft>
                <a:spcPts val="400"/>
              </a:spcAft>
              <a:defRPr sz="1100">
                <a:solidFill>
                  <a:srgbClr val="212529"/>
                </a:solidFill>
              </a:defRPr>
            </a:pPr>
            <a:r>
              <a:t>• 4. Do NOT deploy automatically without addressing selection bias and data gaps.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