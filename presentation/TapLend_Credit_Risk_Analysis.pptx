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63001" autoAdjust="0"/>
  </p:normalViewPr>
  <p:slideViewPr>
    <p:cSldViewPr snapToGrid="0" snapToObjects="1">
      <p:cViewPr varScale="1">
        <p:scale>
          <a:sx n="44" d="100"/>
          <a:sy n="44" d="100"/>
        </p:scale>
        <p:origin x="1500" y="2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882614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9601200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300" b="1">
                <a:solidFill>
                  <a:srgbClr val="A0BEE6"/>
                </a:solidFill>
              </a:defRPr>
            </a:pPr>
            <a:r>
              <a:rPr dirty="0"/>
              <a:t>TAPLEND INDIA </a:t>
            </a:r>
            <a:r>
              <a:rPr lang="en-IN" dirty="0"/>
              <a:t>-</a:t>
            </a:r>
            <a:r>
              <a:rPr dirty="0"/>
              <a:t> DATA SCIENCE INTERN ASSESSMENT</a:t>
            </a:r>
          </a:p>
          <a:p>
            <a:pPr>
              <a:spcAft>
                <a:spcPts val="1600"/>
              </a:spcAft>
              <a:defRPr sz="3200" b="1">
                <a:solidFill>
                  <a:srgbClr val="FFFFFF"/>
                </a:solidFill>
              </a:defRPr>
            </a:pPr>
            <a:r>
              <a:rPr dirty="0"/>
              <a:t>Credit Risk Analysis &amp; Underwriting Optimization</a:t>
            </a:r>
          </a:p>
          <a:p>
            <a:pPr>
              <a:defRPr sz="1400">
                <a:solidFill>
                  <a:srgbClr val="DCE6F5"/>
                </a:solidFill>
              </a:defRPr>
            </a:pPr>
            <a:r>
              <a:rPr dirty="0"/>
              <a:t>A rigorous, leak-free evaluation of applicant risk signals, verified data matching corrections, fair lending feature hygiene, and illustrative decision economics.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5120640"/>
            <a:ext cx="3435556" cy="6001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B4C8DC"/>
                </a:solidFill>
              </a:defRPr>
            </a:pPr>
            <a:r>
              <a:rPr dirty="0"/>
              <a:t>Author: </a:t>
            </a:r>
            <a:r>
              <a:rPr lang="en-IN" dirty="0"/>
              <a:t>Aditya Kumar Singh</a:t>
            </a:r>
          </a:p>
          <a:p>
            <a:pPr>
              <a:defRPr sz="1100">
                <a:solidFill>
                  <a:srgbClr val="B4C8DC"/>
                </a:solidFill>
              </a:defRPr>
            </a:pPr>
            <a:r>
              <a:rPr lang="en-US" dirty="0"/>
              <a:t>B.Tech. (Hons.) (CSE- Data Science and Data Engineering)</a:t>
            </a:r>
          </a:p>
          <a:p>
            <a:pPr>
              <a:defRPr sz="1100">
                <a:solidFill>
                  <a:srgbClr val="B4C8DC"/>
                </a:solidFill>
              </a:defRPr>
            </a:pPr>
            <a:r>
              <a:rPr lang="en-IN" dirty="0"/>
              <a:t>Lovely Professional University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88291"/>
                </a:solidFill>
              </a:defRPr>
            </a:pPr>
            <a:r>
              <a:t>TAPLEND INDIA • CREDIT RISK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2B4C"/>
                </a:solidFill>
              </a:defRPr>
            </a:pPr>
            <a:r>
              <a:t>Business Objective &amp; Underwriting Economics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291840" cy="457200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182880" rtlCol="0" anchor="ctr"/>
          <a:lstStyle/>
          <a:p>
            <a:pPr algn="ctr">
              <a:spcAft>
                <a:spcPts val="800"/>
              </a:spcAft>
              <a:defRPr sz="1400" b="1">
                <a:solidFill>
                  <a:srgbClr val="1A2B4C"/>
                </a:solidFill>
              </a:defRPr>
            </a:pPr>
            <a:r>
              <a:t>The Lending Challenge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TapLend provides consumer credit to subprime and near-prime borrowers.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Core dilemma: Balancing loan origination volume against portfolio default losses.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Objective: Identify which applicant characteristics predict repayment to guide future credit decisions.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Regulatory boundary: Decisions must be transparent, non-discriminatory, and legally compliant.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291840" cy="457200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182880" rtlCol="0" anchor="ctr"/>
          <a:lstStyle/>
          <a:p>
            <a:pPr algn="ctr">
              <a:spcAft>
                <a:spcPts val="800"/>
              </a:spcAft>
              <a:defRPr sz="1400" b="1">
                <a:solidFill>
                  <a:srgbClr val="1A2B4C"/>
                </a:solidFill>
              </a:defRPr>
            </a:pPr>
            <a:r>
              <a:t>Illustrative Economic Costs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Asymmetric Cost Framework: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  • Cost of False Negative (Default loss): Lost principal (~$500 illustrative loss).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  • Cost of False Positive (Good rejection): Lost profit margin (~$150 illustrative profit).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Illustrative Nature: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  • Neither $500 nor $150 is specified in the raw workbook; they represent illustrative operational assumptions.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  • Because default costs exceed margin by &gt;3:1, naive 0.50 cutoffs are economically misaligned.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182880" rtlCol="0" anchor="ctr"/>
          <a:lstStyle/>
          <a:p>
            <a:pPr algn="ctr">
              <a:spcAft>
                <a:spcPts val="800"/>
              </a:spcAft>
              <a:defRPr sz="1400" b="1">
                <a:solidFill>
                  <a:srgbClr val="1A2B4C"/>
                </a:solidFill>
              </a:defRPr>
            </a:pPr>
            <a:r>
              <a:t>Analytical Evaluation Pillars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1. Architectural Audit: Verify customer and loan identifier linkages.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2. Empirical Risk Drivers: Statistically evaluate bureau scores, cash flow, and repayment terms.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3. Fair Lending Hygiene: Deliberately exclude age; review proxy risk attributes.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4. Leak-Free ML: Model defaults with grouped customer cross-validation.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5. Governance Caution: Document limitations and reject premature automation.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88291"/>
                </a:solidFill>
              </a:defRPr>
            </a:pPr>
            <a:r>
              <a:t>TAPLEND INDIA • CREDIT RISK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2B4C"/>
                </a:solidFill>
              </a:defRPr>
            </a:pPr>
            <a:r>
              <a:t>Dataset Overview: Two Siloed Tables Across 6 Months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182880" rtlCol="0" anchor="ctr"/>
          <a:lstStyle/>
          <a:p>
            <a:pPr algn="ctr">
              <a:spcAft>
                <a:spcPts val="800"/>
              </a:spcAft>
              <a:defRPr sz="1400" b="1">
                <a:solidFill>
                  <a:srgbClr val="1A2B4C"/>
                </a:solidFill>
              </a:defRPr>
            </a:pPr>
            <a:r>
              <a:t>Application Data (N = 647)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Observation Window: October 16, 2010 to April 17, 2011 (exact 6 months).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Dimensions: 647 rows × 31 columns. 100% unique customer IDs.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Applicant Demographics: Birth date, housing tenure, residence rent vs. own.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Financial Attributes: Self-reported monthly income ($2,618 avg), monthly rent.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Credit Bureau Scores: raw_l2c_score, plus four specialized FICO scores (Retail, Telecom, Bank Card, Money).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Requested Terms: Amount requested ($300–$1,000), duration, payment frequency (weekly to monthly).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Post-Decision Fields: amount_approved, duration_approved (must be excluded).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182880" rtlCol="0" anchor="ctr"/>
          <a:lstStyle/>
          <a:p>
            <a:pPr algn="ctr">
              <a:spcAft>
                <a:spcPts val="800"/>
              </a:spcAft>
              <a:defRPr sz="1400" b="1">
                <a:solidFill>
                  <a:srgbClr val="1A2B4C"/>
                </a:solidFill>
              </a:defRPr>
            </a:pPr>
            <a:r>
              <a:t>Loan Performance (N = 1,285)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Portfolio Coverage: All loans issued during the same 6-month period.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Dimensions: 1,285 rows × 2 columns (idLoan, flgGood).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Outcome Label: Binary repayment performance (Good vs. Bad).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Overall Outcome Distribution: 769 Good loans (59.84%) vs. 516 Bad loans (40.16%).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No Date Stamps: Loan Performance lacks disbursement or maturity timestamps.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Identifier Structure: idLoan combines customer hex prefix with loan sequence (e.g. 9ECE67D6C5-01).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Core Investigation: Why are there 1,285 loans for only 647 application records?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88291"/>
                </a:solidFill>
              </a:defRPr>
            </a:pPr>
            <a:r>
              <a:t>TAPLEND INDIA • CREDIT RISK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2B4C"/>
                </a:solidFill>
              </a:defRPr>
            </a:pPr>
            <a:r>
              <a:t>The Data Matching Problem: Investigation &amp; Verified Findings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182880" rtlCol="0" anchor="ctr"/>
          <a:lstStyle/>
          <a:p>
            <a:pPr algn="ctr">
              <a:spcAft>
                <a:spcPts val="800"/>
              </a:spcAft>
              <a:defRPr sz="1400" b="1">
                <a:solidFill>
                  <a:srgbClr val="1A2B4C"/>
                </a:solidFill>
              </a:defRPr>
            </a:pPr>
            <a:r>
              <a:t>Forensic Matching Investigation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Identifier Architecture: customer_id is a 10-char hex string; idLoan prefixes match these 10-char hex hashes.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Repeat Borrowers (16 Loans): 16 customers took a second loan (-02). All 16 were Good on loan -01, and 13 were Good on loan -02 (18.75% default rate).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Justified Correction (Row 567): 902431691 lost its leading zero in Excel; restoring it matches loan 0902431691-01, yielding 657 matched loans across 641 applicants.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The 628 Unmatched Loans: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  • An exhaustive check confirms that these 628 prefixes do NOT appear anywhere in Application Data.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  • Missingness is not inferred from row order: Application Data is simply an incomplete extract covering only 647 of the portfolio's 1,269 total borrowers.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  • Matched default rate = 54.03% vs. Unmatched = 25.64% (Non-random missingness).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Governance Rule: We strictly do NOT invent artificial join keys. The 628 loans lack feature data and cannot be used for predictive training.</a:t>
            </a:r>
          </a:p>
        </p:txBody>
      </p:sp>
      <p:pic>
        <p:nvPicPr>
          <p:cNvPr id="5" name="Picture 4" descr="matched_vs_unmatched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645920"/>
            <a:ext cx="521208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88291"/>
                </a:solidFill>
              </a:defRPr>
            </a:pPr>
            <a:r>
              <a:t>TAPLEND INDIA • CREDIT RISK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2B4C"/>
                </a:solidFill>
              </a:defRPr>
            </a:pPr>
            <a:r>
              <a:t>Exploratory Data Analysis: Empirical Risk Drivers &amp; Surprises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182880" rtlCol="0" anchor="ctr"/>
          <a:lstStyle/>
          <a:p>
            <a:pPr algn="ctr">
              <a:spcAft>
                <a:spcPts val="800"/>
              </a:spcAft>
              <a:defRPr sz="1400" b="1">
                <a:solidFill>
                  <a:srgbClr val="1A2B4C"/>
                </a:solidFill>
              </a:defRPr>
            </a:pPr>
            <a:r>
              <a:t>Statistical Findings Across Features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Credit Bureau Scores Separate Risk (p &lt; 0.001):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  • FICO Retail: Good borrowers avg 607.2 vs. Bad avg 588.1.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  • FICO Telecom: Good avg 576.2 vs. Bad avg 562.6.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  • FICO Bank Card: Good avg 671.8 vs. Bad avg 659.4.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  • FICO Money: Good avg 607.5 vs. Bad avg 599.3.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Monthly Income Does NOT Predict Default (p = 0.729):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  • Good borrowers avg $2,641 vs. Bad avg $2,595.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  • Zero statistical correlation with default risk.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  • Takeaway: Stated gross income without verified debt service obligations (DTI) is uninformative.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Applicant Age Correlation (Removed from Model):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  • Good borrowers were slightly older (44.2 vs. 40.3 years, p &lt; 0.001).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  • Regulatory Notice: Age was deliberately removed from predictive features to comply with fair lending (ECOA) rules.</a:t>
            </a:r>
          </a:p>
        </p:txBody>
      </p:sp>
      <p:pic>
        <p:nvPicPr>
          <p:cNvPr id="5" name="Picture 4" descr="fico_scores_by_outc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645920"/>
            <a:ext cx="521208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88291"/>
                </a:solidFill>
              </a:defRPr>
            </a:pPr>
            <a:r>
              <a:t>TAPLEND INDIA • CREDIT RISK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2B4C"/>
                </a:solidFill>
              </a:defRPr>
            </a:pPr>
            <a:r>
              <a:t>Payment Frequency &amp; Repeat Borrower Dynamics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182880" rtlCol="0" anchor="ctr"/>
          <a:lstStyle/>
          <a:p>
            <a:pPr algn="ctr">
              <a:spcAft>
                <a:spcPts val="800"/>
              </a:spcAft>
              <a:defRPr sz="1400" b="1">
                <a:solidFill>
                  <a:srgbClr val="1A2B4C"/>
                </a:solidFill>
              </a:defRPr>
            </a:pPr>
            <a:r>
              <a:t>Underwriting Schedule Observations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Weekly Payment Frequency Risk (Association ≠ Causation):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  • Borrowers on weekly schedules had an 81.5% default rate.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  • Critical Subgroup Limitation: Only 27 total loans were weekly (22 defaults).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  • Interpretation: Weekly schedules do not inherently cause default; borrowers selecting weekly terms likely possess volatile cash flows or irregular wages.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Bi-Weekly Repayments (63.1% Bad):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  • Half the portfolio (n = 328). Still exhibits elevated default rates.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Monthly &amp; Semi-Monthly Schedules: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  • Monthly: 43.9% Bad (n = 171) | Semi-Monthly: 41.2% Bad (n = 114).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Repeat Borrower Survivorship Bias: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  • Repeat loans (-02) defaulted at only 18.75% (3/16).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  • Limitation: Sample is tiny (n = 16) and reflects pre-filtered borrowers who already proved creditworthiness on loan -01.</a:t>
            </a:r>
          </a:p>
        </p:txBody>
      </p:sp>
      <p:pic>
        <p:nvPicPr>
          <p:cNvPr id="5" name="Picture 4" descr="payment_frequency_by_outc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645920"/>
            <a:ext cx="521208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88291"/>
                </a:solidFill>
              </a:defRPr>
            </a:pPr>
            <a:r>
              <a:t>TAPLEND INDIA • CREDIT RISK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2B4C"/>
                </a:solidFill>
              </a:defRPr>
            </a:pPr>
            <a:r>
              <a:t>Feature Engineering &amp; Fair Lending Hygiene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182880" rtlCol="0" anchor="ctr"/>
          <a:lstStyle/>
          <a:p>
            <a:pPr algn="ctr">
              <a:spcAft>
                <a:spcPts val="800"/>
              </a:spcAft>
              <a:defRPr sz="1400" b="1">
                <a:solidFill>
                  <a:srgbClr val="1A2B4C"/>
                </a:solidFill>
              </a:defRPr>
            </a:pPr>
            <a:r>
              <a:t>Fair Lending Hygiene &amp; Exclusions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Removal of Age (Fair Lending Compliance):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  • Removed from predictive features to comply with Equal Credit Opportunity Act (ECOA) standards.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Proxy Risk Review: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  • Removing age alone does NOT guarantee fairness.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  • Variables like residential duration, bank account tenure, or credit bureau history length can serve as proxy variables for age or other protected traits.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  • Formal Disparate Impact testing required before any commercial deployment.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Target Leakage / Post-Decision Fields (EXCLUDED):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  • amount_approved, duration_approved, payment_amount_approved, status.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PII &amp; Arbitrary Identifiers (EXCLUDED):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  • customer_id, idLoan, customer_key, email, bank_routing_number, address_zip.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182880" rtlCol="0" anchor="ctr"/>
          <a:lstStyle/>
          <a:p>
            <a:pPr algn="ctr">
              <a:spcAft>
                <a:spcPts val="800"/>
              </a:spcAft>
              <a:defRPr sz="1400" b="1">
                <a:solidFill>
                  <a:srgbClr val="1A2B4C"/>
                </a:solidFill>
              </a:defRPr>
            </a:pPr>
            <a:r>
              <a:t>Engineered Application-Time Features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Financial &amp; Debt Burden Ratios (INCLUDED):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  • Payment-to-Income: payment_amount / monthly_income_amount. Measures installment burden relative to cash flow.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  • Rent-to-Income: monthly_rent_amount / monthly_income_amount. Captures fixed housing commitments.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  • Total Repayment Cost Ratio: (num_payments * payment_amount) / amount_requested. Measures effective financing cost multiple.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Credit Bureau Aggregations (INCLUDED):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  • mean_fico: Composite average across Retail, Telecom, Bank Card, and Money FICO scores.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Account &amp; Residence Stability: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  • Tenure Buckets: residence_duration, bank_account_duration, email_duration.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  • Underwriting Schedule: payment_frequency, residence_rent_or_own, direct deposit.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88291"/>
                </a:solidFill>
              </a:defRPr>
            </a:pPr>
            <a:r>
              <a:t>TAPLEND INDIA • CREDIT RISK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2B4C"/>
                </a:solidFill>
              </a:defRPr>
            </a:pPr>
            <a:r>
              <a:t>Modeling Architecture &amp; Leak-Free Validation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291840" cy="457200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182880" rtlCol="0" anchor="ctr"/>
          <a:lstStyle/>
          <a:p>
            <a:pPr algn="ctr">
              <a:spcAft>
                <a:spcPts val="800"/>
              </a:spcAft>
              <a:defRPr sz="1400" b="1">
                <a:solidFill>
                  <a:srgbClr val="1A2B4C"/>
                </a:solidFill>
              </a:defRPr>
            </a:pPr>
            <a:r>
              <a:t>Preventing Customer Leakage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16 repeat borrowers have multiple loans (-01 and -02).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Random row-level splitting would leak the same customer's traits into both train and test.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Solution: GroupShuffleSplit grouped strictly on customer_key.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Train: 80% of customer groups (n = 524 loans).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Test: 20% of customer groups (n = 133 loans).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Guarantees holdout independence.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291840" cy="457200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182880" rtlCol="0" anchor="ctr"/>
          <a:lstStyle/>
          <a:p>
            <a:pPr algn="ctr">
              <a:spcAft>
                <a:spcPts val="800"/>
              </a:spcAft>
              <a:defRPr sz="1400" b="1">
                <a:solidFill>
                  <a:srgbClr val="1A2B4C"/>
                </a:solidFill>
              </a:defRPr>
            </a:pPr>
            <a:r>
              <a:t>Scikit-Learn Preprocessing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Strict Featurization Order: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Pipelines fitted ONLY on training split.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Numerical Pipeline (15 Features):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  • Median imputation (robust to outliers).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  • StandardScaler (zero mean, unit variance).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Categorical Pipeline (7 Features):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  • Mode imputation for missing values.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  • OneHotEncoder with handle_unknown='ignore' and drop='first'.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ColumnTransformer packaging.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182880" rtlCol="0" anchor="ctr"/>
          <a:lstStyle/>
          <a:p>
            <a:pPr algn="ctr">
              <a:spcAft>
                <a:spcPts val="800"/>
              </a:spcAft>
              <a:defRPr sz="1400" b="1">
                <a:solidFill>
                  <a:srgbClr val="1A2B4C"/>
                </a:solidFill>
              </a:defRPr>
            </a:pPr>
            <a:r>
              <a:t>Candidate Algorithms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Model 1: Logistic Regression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  • Linear classifier with L2 regularization.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  • class_weight='balanced' to handle class proportions.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  • Provides interpretable odds ratios for regulatory compliance.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Model 2: Random Forest Classifier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  • 100 trees, max_depth=5, min_samples_split=10.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  • class_weight='balanced'.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  • Captures non-linear thresholds and interactions without overfitting.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88291"/>
                </a:solidFill>
              </a:defRPr>
            </a:pPr>
            <a:r>
              <a:t>TAPLEND INDIA • CREDIT RISK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2B4C"/>
                </a:solidFill>
              </a:defRPr>
            </a:pPr>
            <a:r>
              <a:t>Model Evaluation &amp; Out-of-Sample Benchmarks (Excl. Age)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182880" rtlCol="0" anchor="ctr"/>
          <a:lstStyle/>
          <a:p>
            <a:pPr algn="ctr">
              <a:spcAft>
                <a:spcPts val="800"/>
              </a:spcAft>
              <a:defRPr sz="1400" b="1">
                <a:solidFill>
                  <a:srgbClr val="1A2B4C"/>
                </a:solidFill>
              </a:defRPr>
            </a:pPr>
            <a:r>
              <a:t>Model Evaluation (Holdout Test N = 133)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Target Definition: Positive Class = Bad Loan (Default Event = 1).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Model Comparison Table (Excluding Age):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  • Random Forest: Accuracy = 62.41%, ROC-AUC = 0.6313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    - Bad Precision = 62.65%, Bad Recall = 73.24%, Bad F1 = 0.6753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    - Good Precision = 62.00%, Good Recall = 50.00%, Good F1 = 0.5536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  • Logistic Regression: Accuracy = 53.38%, ROC-AUC = 0.5461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    - Bad Precision = 56.00%, Bad Recall = 59.15%, Bad F1 = 0.5753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Key Model Evaluation Takeaways: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  • Random Forest achieved 73.2% recall on defaults, successfully identifying 52 out of 71 defaults in the holdout test set.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  • Overall discrimination is moderate (~0.63 AUC), reflecting sample size and the absence of verified debt obligations.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  • Random Forest consistently out-performed linear Logistic Regression.</a:t>
            </a:r>
          </a:p>
        </p:txBody>
      </p:sp>
      <p:pic>
        <p:nvPicPr>
          <p:cNvPr id="5" name="Picture 4" descr="confusion_matric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645920"/>
            <a:ext cx="521208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88291"/>
                </a:solidFill>
              </a:defRPr>
            </a:pPr>
            <a:r>
              <a:t>TAPLEND INDIA • CREDIT RISK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2B4C"/>
                </a:solidFill>
              </a:defRPr>
            </a:pPr>
            <a:r>
              <a:t>Leak-Free Decision Thresholds &amp; Illustrative Trade-Offs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182880" rtlCol="0" anchor="ctr"/>
          <a:lstStyle/>
          <a:p>
            <a:pPr algn="ctr">
              <a:spcAft>
                <a:spcPts val="800"/>
              </a:spcAft>
              <a:defRPr sz="1400" b="1">
                <a:solidFill>
                  <a:srgbClr val="1A2B4C"/>
                </a:solidFill>
              </a:defRPr>
            </a:pPr>
            <a:r>
              <a:t>Corrected Threshold Methodology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Leak-Free Selection Protocol: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  • Threshold selected strictly on Training Data via 5-fold GroupKFold cross-validation using Random Forest.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  • Optimal Training Threshold: T* = 0.30.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Evaluation on Untouched Holdout Test Set (N = 133):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  • Default 0.50 Cutoff Loss: $14,150 (FN = 19, FP = 31).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  • Selected 0.30 Cutoff Loss: $9,650 (FN = 1, FP = 61).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  • Difference: $4,500 reduction (31.8%) under illustrative assumptions ($500 default loss vs. $150 lost margin).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The Volume vs. Risk Trade-Off: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  • While lowering T to 0.30 catches nearly all defaults (FN drops from 19 to 1), it rejects 61 out of 62 good borrowers (FP increases from 31 to 61).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  • Approval volume collapses! Real businesses must impose approval volume constraints.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Sample-Size Limitation: In a test set of 133 loans, threshold tuning is sensitive to small sample noise.</a:t>
            </a:r>
          </a:p>
        </p:txBody>
      </p:sp>
      <p:pic>
        <p:nvPicPr>
          <p:cNvPr id="5" name="Picture 4" descr="financial_tradeoff_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645920"/>
            <a:ext cx="521208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88291"/>
                </a:solidFill>
              </a:defRPr>
            </a:pPr>
            <a:r>
              <a:t>TAPLEND INDIA • CREDIT RISK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2B4C"/>
                </a:solidFill>
              </a:defRPr>
            </a:pPr>
            <a:r>
              <a:t>Portfolio Limitations &amp; Data Governance Risks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291840" cy="457200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182880" rtlCol="0" anchor="ctr"/>
          <a:lstStyle/>
          <a:p>
            <a:pPr algn="ctr">
              <a:spcAft>
                <a:spcPts val="800"/>
              </a:spcAft>
              <a:defRPr sz="1400" b="1">
                <a:solidFill>
                  <a:srgbClr val="1A2B4C"/>
                </a:solidFill>
              </a:defRPr>
            </a:pPr>
            <a:r>
              <a:t>1. Selection Bias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100% Approved Applications: Data contains zero rejected applicants.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Survivor Bias: We cannot observe repayment behavior for denied applicants.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Model Distortion: Scoring models trained only on approved loans degrade on general applicant flow.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Remediation: Reject inference modeling or randomized control tranches.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291840" cy="457200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182880" rtlCol="0" anchor="ctr"/>
          <a:lstStyle/>
          <a:p>
            <a:pPr algn="ctr">
              <a:spcAft>
                <a:spcPts val="800"/>
              </a:spcAft>
              <a:defRPr sz="1400" b="1">
                <a:solidFill>
                  <a:srgbClr val="1A2B4C"/>
                </a:solidFill>
              </a:defRPr>
            </a:pPr>
            <a:r>
              <a:t>2. Missing Portfolio Half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628 Loans Lack Application Records: Nearly half of all loans cannot be joined.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Non-Random Missingness (MNAR): Unmatched loans default at 25.6% vs. 54.0% for matched loans.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Set-Difference Proof: Prefixes do not exist anywhere in Application Data.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Remediation: Ingestion pipeline reconciliation before production deployment.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182880" rtlCol="0" anchor="ctr"/>
          <a:lstStyle/>
          <a:p>
            <a:pPr algn="ctr">
              <a:spcAft>
                <a:spcPts val="800"/>
              </a:spcAft>
              <a:defRPr sz="1400" b="1">
                <a:solidFill>
                  <a:srgbClr val="1A2B4C"/>
                </a:solidFill>
              </a:defRPr>
            </a:pPr>
            <a:r>
              <a:t>3. Data Quality &amp; Fairness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Excel Identifier Corruption: Hex hashes coerced to scientific floats and stripped zeros.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Omitted Variable Bias: Missing verified Debt-to-Income (DTI) and active debt tradelines.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Regulatory Fair Lending: Proxy risk persists even after removing age; formal disparate impact audits required.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Sample Size: N = 657 is too small for automated underwriting.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88291"/>
                </a:solidFill>
              </a:defRPr>
            </a:pPr>
            <a:r>
              <a:t>TAPLEND INDIA • CREDIT RISK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2B4C"/>
                </a:solidFill>
              </a:defRPr>
            </a:pPr>
            <a:r>
              <a:t>Actionable &amp; Evidence-Based Recommendations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291840" cy="457200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182880" rtlCol="0" anchor="ctr"/>
          <a:lstStyle/>
          <a:p>
            <a:pPr algn="ctr">
              <a:spcAft>
                <a:spcPts val="800"/>
              </a:spcAft>
              <a:defRPr sz="1400" b="1">
                <a:solidFill>
                  <a:srgbClr val="1A2B4C"/>
                </a:solidFill>
              </a:defRPr>
            </a:pPr>
            <a:r>
              <a:t>Underwriting Policy Reviews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1. Controlled Review of Weekly Repayments: Weekly schedule borrowers defaulted at 81.5% (n=27). Audit borrower cash-flow cycles and pilot stricter terms (association ≠ causation).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2. Simulate Bureau Floors: Bureau scores show strong risk separation. Evaluate volume vs. default trade-offs for cutoffs (e.g. FICO Retail ≥ 580) on broader data.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3. Validate Repeat Borrower Dynamics: 18.8% default rate on loan -02 is encouraging, but reflects survivorship in a sample of 16. Validate on broader cohorts before creating VIP programs.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291840" cy="457200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182880" rtlCol="0" anchor="ctr"/>
          <a:lstStyle/>
          <a:p>
            <a:pPr algn="ctr">
              <a:spcAft>
                <a:spcPts val="800"/>
              </a:spcAft>
              <a:defRPr sz="1400" b="1">
                <a:solidFill>
                  <a:srgbClr val="1A2B4C"/>
                </a:solidFill>
              </a:defRPr>
            </a:pPr>
            <a:r>
              <a:t>Data Infrastructure Fixes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1. Reconcile Unmatched Records: Audit origination databases to recover application profiles for the 628 unmatched loans.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2. Modernize Pipeline Hygiene: Replace manual Excel extracts with automated database pipelines (Parquet / PostgreSQL) with immutable string schemas.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3. Log Rejected Applications: Capture and store all incoming applications—including rejections—to enable reject inference.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182880" rtlCol="0" anchor="ctr"/>
          <a:lstStyle/>
          <a:p>
            <a:pPr algn="ctr">
              <a:spcAft>
                <a:spcPts val="800"/>
              </a:spcAft>
              <a:defRPr sz="1400" b="1">
                <a:solidFill>
                  <a:srgbClr val="1A2B4C"/>
                </a:solidFill>
              </a:defRPr>
            </a:pPr>
            <a:r>
              <a:t>Essential Next Steps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1. Verified Debt-to-Income (DTI): Capture existing active monthly debt service to evaluate true repayment capacity.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2. Cash-Flow Banking Analytics: Integrate Account Aggregator data (average balance, payroll regularity, overdraft frequency).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3. Fair Lending Disparate Impact Audits: Conduct formal Disparate Impact testing across protected classes.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</a:defRPr>
            </a:pPr>
            <a:r>
              <a:t>• 4. Do NOT deploy automatically without addressing selection bias and data gaps.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2528</Words>
  <Application>Microsoft Office PowerPoint</Application>
  <PresentationFormat>Widescreen</PresentationFormat>
  <Paragraphs>195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Aditya Kumar Singh</cp:lastModifiedBy>
  <cp:revision>3</cp:revision>
  <dcterms:created xsi:type="dcterms:W3CDTF">2013-01-27T09:14:16Z</dcterms:created>
  <dcterms:modified xsi:type="dcterms:W3CDTF">2026-10-14T10:15:21Z</dcterms:modified>
  <cp:category/>
</cp:coreProperties>
</file>